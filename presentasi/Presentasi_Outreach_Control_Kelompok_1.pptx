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c:v>
                </c:pt>
              </c:strCache>
            </c:strRef>
          </c:tx>
          <c:spPr>
            <a:solidFill>
              <a:srgbClr val="154E54"/>
            </a:solidFill>
            <a:effectLst/>
          </c:spPr>
          <c:invertIfNegative val="0"/>
          <c:dLbls>
            <c:numFmt formatCode="#,##0" sourceLinked="0"/>
            <c:txPr>
              <a:bodyPr/>
              <a:lstStyle/>
              <a:p>
                <a:pPr>
                  <a:defRPr b="0" i="0" strike="noStrike" sz="1200" u="none">
                    <a:solidFill>
                      <a:srgbClr val="17292C"/>
                    </a:solidFill>
                    <a:latin typeface="Calibri"/>
                  </a:defRPr>
                </a:pPr>
              </a:p>
            </c:txPr>
            <c:showLegendKey val="0"/>
            <c:showVal val="1"/>
            <c:showCatName val="0"/>
            <c:showSerName val="0"/>
            <c:showPercent val="0"/>
            <c:showBubbleSize val="0"/>
            <c:showLeaderLines val="0"/>
          </c:dLbls>
          <c:cat>
            <c:multiLvlStrRef>
              <c:f>Sheet1!$A$2:$A$9</c:f>
              <c:multiLvlStrCache>
                <c:ptCount val="8"/>
                <c:lvl>
                  <c:pt idx="0">
                    <c:v>Integrasi</c:v>
                  </c:pt>
                  <c:pt idx="1">
                    <c:v>Agen</c:v>
                  </c:pt>
                  <c:pt idx="2">
                    <c:v>Orchestrator</c:v>
                  </c:pt>
                  <c:pt idx="3">
                    <c:v>Lead manual</c:v>
                  </c:pt>
                  <c:pt idx="4">
                    <c:v>LinkedIn</c:v>
                  </c:pt>
                  <c:pt idx="5">
                    <c:v>Mode draf</c:v>
                  </c:pt>
                  <c:pt idx="6">
                    <c:v>Satu penerima</c:v>
                  </c:pt>
                  <c:pt idx="7">
                    <c:v>API</c:v>
                  </c:pt>
                </c:lvl>
              </c:multiLvlStrCache>
            </c:multiLvlStrRef>
          </c:cat>
          <c:val>
            <c:numRef>
              <c:f>Sheet1!$B$2:$B$9</c:f>
              <c:numCache>
                <c:formatCode>General</c:formatCode>
                <c:ptCount val="8"/>
                <c:pt idx="0">
                  <c:v>10</c:v>
                </c:pt>
                <c:pt idx="1">
                  <c:v>9</c:v>
                </c:pt>
                <c:pt idx="2">
                  <c:v>7</c:v>
                </c:pt>
                <c:pt idx="3">
                  <c:v>6</c:v>
                </c:pt>
                <c:pt idx="4">
                  <c:v>4</c:v>
                </c:pt>
                <c:pt idx="5">
                  <c:v>4</c:v>
                </c:pt>
                <c:pt idx="6">
                  <c:v>2</c:v>
                </c:pt>
                <c:pt idx="7">
                  <c:v>1</c:v>
                </c:pt>
              </c:numCache>
            </c:numRef>
          </c:val>
        </c:ser>
        <c:dLbls>
          <c:numFmt formatCode="#,##0" sourceLinked="0"/>
          <c:txPr>
            <a:bodyPr/>
            <a:lstStyle/>
            <a:p>
              <a:pPr>
                <a:defRPr b="0" i="0" strike="noStrike" sz="1200" u="none">
                  <a:solidFill>
                    <a:srgbClr val="17292C"/>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3F5558"/>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Keputusan</c:v>
                </c:pt>
              </c:strCache>
            </c:strRef>
          </c:tx>
          <c:spPr>
            <a:solidFill>
              <a:schemeClr val="accent1"/>
            </a:solidFill>
            <a:ln w="9525" cap="flat">
              <a:solidFill>
                <a:srgbClr val="F9F9F9"/>
              </a:solidFill>
              <a:prstDash val="solid"/>
              <a:round/>
            </a:ln>
            <a:effectLst/>
          </c:spPr>
          <c:dPt>
            <c:idx val="0"/>
            <c:bubble3D val="0"/>
            <c:spPr>
              <a:solidFill>
                <a:srgbClr val="1E6F48"/>
              </a:solidFill>
              <a:effectLst/>
            </c:spPr>
          </c:dPt>
          <c:dPt>
            <c:idx val="1"/>
            <c:bubble3D val="0"/>
            <c:spPr>
              <a:solidFill>
                <a:srgbClr val="F2B544"/>
              </a:solidFill>
              <a:effectLst/>
            </c:spPr>
          </c:dPt>
          <c:dPt>
            <c:idx val="2"/>
            <c:bubble3D val="0"/>
            <c:spPr>
              <a:solidFill>
                <a:srgbClr val="A8321F"/>
              </a:solidFill>
              <a:effectLst/>
            </c:spPr>
          </c:dPt>
          <c:dLbls>
            <c:dLbl>
              <c:idx val="0"/>
              <c:numFmt formatCode="General" sourceLinked="0"/>
              <c:spPr/>
              <c:txPr>
                <a:bodyPr/>
                <a:lstStyle/>
                <a:p>
                  <a:pPr>
                    <a:defRPr sz="1400" b="1" i="0" u="none" strike="noStrike">
                      <a:solidFill>
                        <a:srgbClr val="FFFFFF"/>
                      </a:solidFill>
                      <a:latin typeface="Calibri"/>
                    </a:defRPr>
                  </a:pPr>
                </a:p>
              </c:txPr>
              <c:showLegendKey val="0"/>
              <c:showVal val="1"/>
              <c:showCatName val="0"/>
              <c:showSerName val="0"/>
              <c:showPercent val="0"/>
              <c:showBubbleSize val="0"/>
            </c:dLbl>
            <c:dLbl>
              <c:idx val="1"/>
              <c:numFmt formatCode="General" sourceLinked="0"/>
              <c:spPr/>
              <c:txPr>
                <a:bodyPr/>
                <a:lstStyle/>
                <a:p>
                  <a:pPr>
                    <a:defRPr sz="1400" b="1" i="0" u="none" strike="noStrike">
                      <a:solidFill>
                        <a:srgbClr val="FFFFFF"/>
                      </a:solidFill>
                      <a:latin typeface="Calibri"/>
                    </a:defRPr>
                  </a:pPr>
                </a:p>
              </c:txPr>
              <c:showLegendKey val="0"/>
              <c:showVal val="1"/>
              <c:showCatName val="0"/>
              <c:showSerName val="0"/>
              <c:showPercent val="0"/>
              <c:showBubbleSize val="0"/>
            </c:dLbl>
            <c:dLbl>
              <c:idx val="2"/>
              <c:numFmt formatCode="General" sourceLinked="0"/>
              <c:spPr/>
              <c:txPr>
                <a:bodyPr/>
                <a:lstStyle/>
                <a:p>
                  <a:pPr>
                    <a:defRPr sz="1400" b="1" i="0" u="none" strike="noStrike">
                      <a:solidFill>
                        <a:srgbClr val="FFFFFF"/>
                      </a:solidFill>
                      <a:latin typeface="Calibri"/>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PASS</c:v>
                </c:pt>
                <c:pt idx="1">
                  <c:v>REVIEW</c:v>
                </c:pt>
                <c:pt idx="2">
                  <c:v>BLOCK</c:v>
                </c:pt>
              </c:strCache>
            </c:strRef>
          </c:cat>
          <c:val>
            <c:numRef>
              <c:f>Sheet1!$B$2:$B$4</c:f>
              <c:numCache>
                <c:ptCount val="3"/>
                <c:pt idx="0">
                  <c:v>76</c:v>
                </c:pt>
                <c:pt idx="1">
                  <c:v>14</c:v>
                </c:pt>
                <c:pt idx="2">
                  <c:v>10</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Pembukaan (±40 detik). Perkenalkan Kelompok 1 dan judul: Outreach Control, sistem multi-agent yang menyusun email outreach B2B berdasarkan bukti, dengan manusia memegang keputusan kirim. Sampaikan bahwa presentasi mencakup rancangan dan prototipe yang sudah berjalan.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Masalah (±1 menit). Tim sales sering hanya punya nama, email, atau perusahaan di spreadsheet. Empat masalah: salah orang karena nama sama, riset dan penulisan berulang, koordinasi dan jadwal terpisah sehingga kontak bisa dikirimi dua kali, serta risiko privasi dan klaim yang tidak teruji. Tekankan kolom kanan: tiap masalah punya respons rancangan yang konkret.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Tujuan (±1 menit). Kami tidak ingin satu agen memegang seluruh data dan semua keputusan. Empat prinsip: bukti sebelum klaim; konteks tiap agen sempit; mobilitas agen diuji, bukan diasumsikan; manusia memegang keputusan kirim. Spreadsheet menjadi sumber state utama.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SOTA (±1 menit). Clay, Apollo, HubSpot/Clearbit, dan ZoomInfo kuat sebagai ekosistem terpadu. Kami sengaja memakai tool terpisah agar kontrak pesan, approval, dan eksperimen agen bisa diinspeksi. Landasan penelitian: AutoGen untuk pola multi-agent, ReAct untuk agen yang memakai tool, Ditto untuk entity matching, FIPA Contract Net untuk negosiasi, dan Papaioannou &amp; Edwards untuk mobile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Arsitektur (±1,5 menit). Ikuti panah: pengguna mengisi campaign, orchestrator mendelegasikan ke agen enrichment, riset, dan writer. Semua hasil diperiksa Security sebelum manusia menyetujui. Scheduler milik aplikasi yang memanggil Gmail API. Semua state lewat satu Data Gateway ke Google Sheets. Tekankan: Apify dan Firecrawl adalah tool, bukan agen; respons Gmail bukan bukti email dibaca.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 (±1,5 menit). Orchestrator adalah broker. Enrichment dan Research bisa berpindah runtime. Writer tidak punya izin kirim. Security adalah rule engine wajib; evaluator LLM tidak bisa membatalkan blokir. Yang bukan agen AI: Data Gateway, scheduler, sender, dan dispatcher.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Koordinasi (±1,5 menit). Orchestrator mengirim CFP ke runtime yang memenuhi syarat, menerima proposal estimasi waktu, lalu memilih satu. Migrasi memindahkan identitas, tujuan, state, dan referensi data. Setelah migrasi generation naik; hasil dari worker lama ditolak. Di simulasi 100 lead ada 200 CFP, 200 PROPOSE, 100 ACCEPT, 100 REJECT, dan 2 migrasi A ke B yang selesai dari checkpoint.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(±1,5 menit). Skor S menggabungkan kecocokan domain atau URL LinkedIn, kemiripan nama, perusahaan, dan jabatan. Diterima otomatis hanya bila S minimal 0,85 dan unggul minimal 0,10 dari kandidat kedua. Di tangkapan layar, empat kandidat bernama Sinta punya skor di bawah 0,3, sehingga pengguna yang memilih. Jelaskan juga pembagian metode: rule-based wajib, LLM untuk bahasa, classifier dan contextual bandit sebagai eksperimen.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Transisi ke demo prototipe (±20 detik). Sebutkan stack dan bahwa semua tangkapan layar berikut diambil dari mode simulasi dengan data fiktif. Kalau waktu memungkinkan, lakukan demo langsung dari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(±1 menit). Pengguna memilih mode: satu orang (dikunci sistem untuk tepat satu penerima) atau banyak lead lewat CSV. Lead manual cukup nama lengkap dan deskripsi, misalnya Azhari, dosen dan guru besar di UGM; agen membaca instansi dan peran sebagai petunjuk pencarian. Panel kanan menunjukkan kesiapan setiap layanan.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(±1,5 menit). Daftar kiri menunjukkan keputusan Security per lead. Draft untuk Sinta Pramesti memakai dua fakta; kata yang berasal dari fakta diberi nomor yang merujuk ke jejak bukti di bawah: sumber, waktu, skor identitas. Approval terikat versi; kalau draft diedit, approval lama batal. Email hanya terkirim ke alamat di allowlist.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 (±1 menit). Bagian atas menunjukkan alur task per tahap. Runtime A dan B beserta riwayat migrasi. Panel kanan memuat pemakaian layanan dan pesan antaragen yang mengalir langsung: CFP, PROPOSE, INFORM_RESULT, keputusan Security, approval, dan kiriman.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 draf (±1 menit). Kalau Google Client ID dan Secret belum diisi, aplikasi tetap berjalan. Semua agen bekerja, tetapi keluarannya berupa isi email: difinalkan lalu disalin atau diunduh sebagai .eml, atau diekspor CSV untuk seluruh campaign. Pengaman izin, grounding, dan review identitas tetap berlaku. Tampilan juga responsif sampai layar ponsel.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Keamanan (±1 menit). Enam lapisan. Lima sudah diuji otomatis: izin dan suppression, halaman web berisi prompt injection dibuang dan dicatat, approval dan jadwal, task ulang dan migrasi, kegagalan Gmail dengan transport tiruan. Audit dan retensi data belum diuji. Rujukan: OWASP LLM01 dan UU PDP, tanpa klaim sudah diaudit.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Hasil (±1,5 menit). 43 tes otomatis lulus; tes ditulis dari kebutuhan laporan, bukan menyalin implementasi. Simulasi 100 lead fiktif: 76 PASS, 14 REVIEW (13 identitas ambigu, 1 prompt injection), 10 BLOCK (7 tanpa izin, 2 email invalid, 1 duplikat). Tegaskan batas: layanan tiruan dan data fiktif, sehingga waktu proses bukan ukuran kinerja nyata.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Penutup teknis (±1 menit). Jujur tentang yang belum diuji: kualitas email dari LLM sungguhan, run nyata actor Apify, pengiriman Gmail ke penerima nyata, dan pembandingan A/B/C. Langkah berikutnya memakai mode satu penerima dan mode draf supaya uji live tetap aman dan murah.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Kesimpulan (±45 detik). Tiga poin: agen spesialis dengan konteks sempit membuat hasil dapat ditelusuri; manusia tetap memegang keputusan kirim; prototipe membuktikan alur ujung ke ujung dengan pengaman yang teruji. Tutup dengan ajakan tanya jawab.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136"/>
        </a:solidFill>
      </p:bgPr>
    </p:bg>
    <p:spTree>
      <p:nvGrpSpPr>
        <p:cNvPr id="1" name=""/>
        <p:cNvGrpSpPr/>
        <p:nvPr/>
      </p:nvGrpSpPr>
      <p:grpSpPr>
        <a:xfrm>
          <a:off x="0" y="0"/>
          <a:ext cx="0" cy="0"/>
          <a:chOff x="0" y="0"/>
          <a:chExt cx="0" cy="0"/>
        </a:xfrm>
      </p:grpSpPr>
      <p:sp>
        <p:nvSpPr>
          <p:cNvPr id="3" name="Text 0"/>
          <p:cNvSpPr txBox="1"/>
          <p:nvPr/>
        </p:nvSpPr>
        <p:spPr>
          <a:xfrm>
            <a:off x="640080" y="685800"/>
            <a:ext cx="5669280" cy="320040"/>
          </a:xfrm>
          <a:prstGeom prst="rect">
            <a:avLst/>
          </a:prstGeom>
          <a:noFill/>
          <a:ln/>
        </p:spPr>
        <p:txBody>
          <a:bodyPr wrap="square" lIns="0" tIns="0" rIns="0" bIns="0" rtlCol="0" anchor="t"/>
          <a:lstStyle/>
          <a:p>
            <a:pPr indent="0" marL="0">
              <a:buNone/>
            </a:pPr>
            <a:r>
              <a:rPr lang="en-US" sz="1300" b="1" spc="200" kern="0" dirty="0">
                <a:solidFill>
                  <a:srgbClr val="F2B544"/>
                </a:solidFill>
                <a:latin typeface="Calibri" pitchFamily="34" charset="0"/>
                <a:ea typeface="Calibri" pitchFamily="34" charset="-122"/>
                <a:cs typeface="Calibri" pitchFamily="34" charset="-120"/>
              </a:rPr>
              <a:t>AGEN CERDAS ENTERPRISE  ·  KELOMPOK 1</a:t>
            </a:r>
            <a:endParaRPr lang="en-US" sz="1300" dirty="0"/>
          </a:p>
        </p:txBody>
      </p:sp>
      <p:sp>
        <p:nvSpPr>
          <p:cNvPr id="4" name="Text 1"/>
          <p:cNvSpPr txBox="1"/>
          <p:nvPr/>
        </p:nvSpPr>
        <p:spPr>
          <a:xfrm>
            <a:off x="640080" y="1143000"/>
            <a:ext cx="5852160" cy="914400"/>
          </a:xfrm>
          <a:prstGeom prst="rect">
            <a:avLst/>
          </a:prstGeom>
          <a:noFill/>
          <a:ln/>
        </p:spPr>
        <p:txBody>
          <a:bodyPr wrap="square" lIns="0" tIns="0" rIns="0" bIns="0" rtlCol="0" anchor="t"/>
          <a:lstStyle/>
          <a:p>
            <a:pPr indent="0" marL="0">
              <a:buNone/>
            </a:pPr>
            <a:r>
              <a:rPr lang="en-US" sz="4600" b="1" dirty="0">
                <a:solidFill>
                  <a:srgbClr val="FFFFFF"/>
                </a:solidFill>
                <a:latin typeface="Cambria" pitchFamily="34" charset="0"/>
                <a:ea typeface="Cambria" pitchFamily="34" charset="-122"/>
                <a:cs typeface="Cambria" pitchFamily="34" charset="-120"/>
              </a:rPr>
              <a:t>Outreach Control</a:t>
            </a:r>
            <a:endParaRPr lang="en-US" sz="4600" dirty="0"/>
          </a:p>
        </p:txBody>
      </p:sp>
      <p:sp>
        <p:nvSpPr>
          <p:cNvPr id="5" name="Text 2"/>
          <p:cNvSpPr txBox="1"/>
          <p:nvPr/>
        </p:nvSpPr>
        <p:spPr>
          <a:xfrm>
            <a:off x="640080" y="2103120"/>
            <a:ext cx="5486400" cy="1005840"/>
          </a:xfrm>
          <a:prstGeom prst="rect">
            <a:avLst/>
          </a:prstGeom>
          <a:noFill/>
          <a:ln/>
        </p:spPr>
        <p:txBody>
          <a:bodyPr wrap="square" lIns="0" tIns="0" rIns="0" bIns="0" rtlCol="0" anchor="t"/>
          <a:lstStyle/>
          <a:p>
            <a:pPr indent="0" marL="0">
              <a:buNone/>
            </a:pPr>
            <a:r>
              <a:rPr lang="en-US" sz="2000" dirty="0">
                <a:solidFill>
                  <a:srgbClr val="BCD7D9"/>
                </a:solidFill>
                <a:latin typeface="Calibri" pitchFamily="34" charset="0"/>
                <a:ea typeface="Calibri" pitchFamily="34" charset="-122"/>
                <a:cs typeface="Calibri" pitchFamily="34" charset="-120"/>
              </a:rPr>
              <a:t>Sistem multi-agent untuk email outreach B2B yang setiap klaimnya dapat ditelusuri ke bukti</a:t>
            </a:r>
            <a:endParaRPr lang="en-US" sz="2000" dirty="0"/>
          </a:p>
        </p:txBody>
      </p:sp>
      <p:sp>
        <p:nvSpPr>
          <p:cNvPr id="6" name="Text 3"/>
          <p:cNvSpPr txBox="1"/>
          <p:nvPr/>
        </p:nvSpPr>
        <p:spPr>
          <a:xfrm>
            <a:off x="640080" y="3246120"/>
            <a:ext cx="5669280" cy="320040"/>
          </a:xfrm>
          <a:prstGeom prst="rect">
            <a:avLst/>
          </a:prstGeom>
          <a:noFill/>
          <a:ln/>
        </p:spPr>
        <p:txBody>
          <a:bodyPr wrap="square" lIns="0" tIns="0" rIns="0" bIns="0" rtlCol="0" anchor="t"/>
          <a:lstStyle/>
          <a:p>
            <a:pPr indent="0" marL="0">
              <a:buNone/>
            </a:pPr>
            <a:r>
              <a:rPr lang="en-US" sz="1300" dirty="0">
                <a:solidFill>
                  <a:srgbClr val="BCD7D9"/>
                </a:solidFill>
                <a:latin typeface="Calibri" pitchFamily="34" charset="0"/>
                <a:ea typeface="Calibri" pitchFamily="34" charset="-122"/>
                <a:cs typeface="Calibri" pitchFamily="34" charset="-120"/>
              </a:rPr>
              <a:t>Magister Kecerdasan Artifisial · Universitas Gadjah Mada · 2026</a:t>
            </a:r>
            <a:endParaRPr lang="en-US" sz="1300" dirty="0"/>
          </a:p>
        </p:txBody>
      </p:sp>
      <p:sp>
        <p:nvSpPr>
          <p:cNvPr id="7" name="Text 4"/>
          <p:cNvSpPr txBox="1"/>
          <p:nvPr/>
        </p:nvSpPr>
        <p:spPr>
          <a:xfrm>
            <a:off x="640080" y="4160520"/>
            <a:ext cx="2743200" cy="60350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Aditya Nurrohman</a:t>
            </a:r>
            <a:endParaRPr lang="en-US" sz="1250" dirty="0"/>
          </a:p>
          <a:p>
            <a:pPr indent="0" marL="0">
              <a:buNone/>
            </a:pPr>
            <a:r>
              <a:rPr lang="en-US" sz="1100" dirty="0">
                <a:solidFill>
                  <a:srgbClr val="F2B544"/>
                </a:solidFill>
                <a:latin typeface="Calibri" pitchFamily="34" charset="0"/>
                <a:ea typeface="Calibri" pitchFamily="34" charset="-122"/>
                <a:cs typeface="Calibri" pitchFamily="34" charset="-120"/>
              </a:rPr>
              <a:t>Leader &amp; Evaluator</a:t>
            </a:r>
            <a:endParaRPr lang="en-US" sz="1250" dirty="0"/>
          </a:p>
        </p:txBody>
      </p:sp>
      <p:sp>
        <p:nvSpPr>
          <p:cNvPr id="8" name="Text 5"/>
          <p:cNvSpPr txBox="1"/>
          <p:nvPr/>
        </p:nvSpPr>
        <p:spPr>
          <a:xfrm>
            <a:off x="3474720" y="4160520"/>
            <a:ext cx="2743200" cy="60350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Amar Ma'ruf</a:t>
            </a:r>
            <a:endParaRPr lang="en-US" sz="1250" dirty="0"/>
          </a:p>
          <a:p>
            <a:pPr indent="0" marL="0">
              <a:buNone/>
            </a:pPr>
            <a:r>
              <a:rPr lang="en-US" sz="1100" dirty="0">
                <a:solidFill>
                  <a:srgbClr val="F2B544"/>
                </a:solidFill>
                <a:latin typeface="Calibri" pitchFamily="34" charset="0"/>
                <a:ea typeface="Calibri" pitchFamily="34" charset="-122"/>
                <a:cs typeface="Calibri" pitchFamily="34" charset="-120"/>
              </a:rPr>
              <a:t>Presenter</a:t>
            </a:r>
            <a:endParaRPr lang="en-US" sz="1250" dirty="0"/>
          </a:p>
        </p:txBody>
      </p:sp>
      <p:sp>
        <p:nvSpPr>
          <p:cNvPr id="9" name="Text 6"/>
          <p:cNvSpPr txBox="1"/>
          <p:nvPr/>
        </p:nvSpPr>
        <p:spPr>
          <a:xfrm>
            <a:off x="640080" y="4818888"/>
            <a:ext cx="2743200" cy="60350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St. Syakirah</a:t>
            </a:r>
            <a:endParaRPr lang="en-US" sz="1250" dirty="0"/>
          </a:p>
          <a:p>
            <a:pPr indent="0" marL="0">
              <a:buNone/>
            </a:pPr>
            <a:r>
              <a:rPr lang="en-US" sz="1100" dirty="0">
                <a:solidFill>
                  <a:srgbClr val="F2B544"/>
                </a:solidFill>
                <a:latin typeface="Calibri" pitchFamily="34" charset="0"/>
                <a:ea typeface="Calibri" pitchFamily="34" charset="-122"/>
                <a:cs typeface="Calibri" pitchFamily="34" charset="-120"/>
              </a:rPr>
              <a:t>Programmer</a:t>
            </a:r>
            <a:endParaRPr lang="en-US" sz="1250" dirty="0"/>
          </a:p>
        </p:txBody>
      </p:sp>
      <p:sp>
        <p:nvSpPr>
          <p:cNvPr id="10" name="Text 7"/>
          <p:cNvSpPr txBox="1"/>
          <p:nvPr/>
        </p:nvSpPr>
        <p:spPr>
          <a:xfrm>
            <a:off x="3474720" y="4818888"/>
            <a:ext cx="2743200" cy="60350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Amelia Gizzela Sheehan Auni</a:t>
            </a:r>
            <a:endParaRPr lang="en-US" sz="1250" dirty="0"/>
          </a:p>
          <a:p>
            <a:pPr indent="0" marL="0">
              <a:buNone/>
            </a:pPr>
            <a:r>
              <a:rPr lang="en-US" sz="1100" dirty="0">
                <a:solidFill>
                  <a:srgbClr val="F2B544"/>
                </a:solidFill>
                <a:latin typeface="Calibri" pitchFamily="34" charset="0"/>
                <a:ea typeface="Calibri" pitchFamily="34" charset="-122"/>
                <a:cs typeface="Calibri" pitchFamily="34" charset="-120"/>
              </a:rPr>
              <a:t>Designer</a:t>
            </a:r>
            <a:endParaRPr lang="en-US" sz="1250" dirty="0"/>
          </a:p>
        </p:txBody>
      </p:sp>
      <p:sp>
        <p:nvSpPr>
          <p:cNvPr id="11" name="Text 8"/>
          <p:cNvSpPr txBox="1"/>
          <p:nvPr/>
        </p:nvSpPr>
        <p:spPr>
          <a:xfrm>
            <a:off x="640080" y="5477256"/>
            <a:ext cx="2743200" cy="603504"/>
          </a:xfrm>
          <a:prstGeom prst="rect">
            <a:avLst/>
          </a:prstGeom>
          <a:noFill/>
          <a:ln/>
        </p:spPr>
        <p:txBody>
          <a:bodyPr wrap="square" lIns="0" tIns="0" rIns="0" bIns="0" rtlCol="0" anchor="t"/>
          <a:lstStyle/>
          <a:p>
            <a:pPr indent="0" marL="0">
              <a:buNone/>
            </a:pPr>
            <a:r>
              <a:rPr lang="en-US" sz="1250" b="1" dirty="0">
                <a:solidFill>
                  <a:srgbClr val="FFFFFF"/>
                </a:solidFill>
                <a:latin typeface="Calibri" pitchFamily="34" charset="0"/>
                <a:ea typeface="Calibri" pitchFamily="34" charset="-122"/>
                <a:cs typeface="Calibri" pitchFamily="34" charset="-120"/>
              </a:rPr>
              <a:t>Gregorius Bugen Jovi Sitindaon</a:t>
            </a:r>
            <a:endParaRPr lang="en-US" sz="1250" dirty="0"/>
          </a:p>
          <a:p>
            <a:pPr indent="0" marL="0">
              <a:buNone/>
            </a:pPr>
            <a:r>
              <a:rPr lang="en-US" sz="1100" dirty="0">
                <a:solidFill>
                  <a:srgbClr val="F2B544"/>
                </a:solidFill>
                <a:latin typeface="Calibri" pitchFamily="34" charset="0"/>
                <a:ea typeface="Calibri" pitchFamily="34" charset="-122"/>
                <a:cs typeface="Calibri" pitchFamily="34" charset="-120"/>
              </a:rPr>
              <a:t>Researcher</a:t>
            </a:r>
            <a:endParaRPr lang="en-US" sz="1250" dirty="0"/>
          </a:p>
        </p:txBody>
      </p:sp>
      <p:sp>
        <p:nvSpPr>
          <p:cNvPr id="12" name="Shape 9"/>
          <p:cNvSpPr/>
          <p:nvPr/>
        </p:nvSpPr>
        <p:spPr>
          <a:xfrm>
            <a:off x="6528816" y="859536"/>
            <a:ext cx="5373130" cy="500176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13" name="Image 0" descr="C:\DATA\02 - Kuliah\Agen Cerdas Enterprise\docs\gambar\preview-approval.png">    </p:cNvPr>
          <p:cNvPicPr>
            <a:picLocks noChangeAspect="1"/>
          </p:cNvPicPr>
          <p:nvPr/>
        </p:nvPicPr>
        <p:blipFill>
          <a:blip r:embed="rId1"/>
          <a:stretch>
            <a:fillRect/>
          </a:stretch>
        </p:blipFill>
        <p:spPr>
          <a:xfrm>
            <a:off x="6583680" y="914400"/>
            <a:ext cx="5263402" cy="48920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Outreach B2B masih manual, terpisah, dan sulit diaudit</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2</a:t>
            </a:r>
            <a:endParaRPr lang="en-US" sz="1000" dirty="0"/>
          </a:p>
        </p:txBody>
      </p:sp>
      <p:sp>
        <p:nvSpPr>
          <p:cNvPr id="6" name="Shape 3"/>
          <p:cNvSpPr/>
          <p:nvPr/>
        </p:nvSpPr>
        <p:spPr>
          <a:xfrm>
            <a:off x="548640" y="1463040"/>
            <a:ext cx="5440680" cy="2057400"/>
          </a:xfrm>
          <a:prstGeom prst="roundRect">
            <a:avLst>
              <a:gd name="adj" fmla="val 3556"/>
            </a:avLst>
          </a:prstGeom>
          <a:solidFill>
            <a:srgbClr val="EDF5F5"/>
          </a:solidFill>
          <a:ln w="12700">
            <a:solidFill>
              <a:srgbClr val="EDF5F5"/>
            </a:solidFill>
            <a:prstDash val="solid"/>
          </a:ln>
        </p:spPr>
      </p:sp>
      <p:sp>
        <p:nvSpPr>
          <p:cNvPr id="7" name="Shape 4"/>
          <p:cNvSpPr/>
          <p:nvPr/>
        </p:nvSpPr>
        <p:spPr>
          <a:xfrm>
            <a:off x="822960" y="1737360"/>
            <a:ext cx="566928" cy="566928"/>
          </a:xfrm>
          <a:prstGeom prst="ellipse">
            <a:avLst/>
          </a:prstGeom>
          <a:solidFill>
            <a:srgbClr val="154E54"/>
          </a:solidFill>
          <a:ln w="12700">
            <a:solidFill>
              <a:srgbClr val="154E54"/>
            </a:solidFill>
            <a:prstDash val="solid"/>
          </a:ln>
        </p:spPr>
      </p:sp>
      <p:pic>
        <p:nvPicPr>
          <p:cNvPr id="8" name="Image 0" descr="preencoded.png">    </p:cNvPr>
          <p:cNvPicPr>
            <a:picLocks noChangeAspect="1"/>
          </p:cNvPicPr>
          <p:nvPr/>
        </p:nvPicPr>
        <p:blipFill>
          <a:blip r:embed="rId1"/>
          <a:stretch>
            <a:fillRect/>
          </a:stretch>
        </p:blipFill>
        <p:spPr>
          <a:xfrm>
            <a:off x="959023" y="1873423"/>
            <a:ext cx="294803" cy="294803"/>
          </a:xfrm>
          <a:prstGeom prst="rect">
            <a:avLst/>
          </a:prstGeom>
        </p:spPr>
      </p:pic>
      <p:sp>
        <p:nvSpPr>
          <p:cNvPr id="9" name="Text 5"/>
          <p:cNvSpPr txBox="1"/>
          <p:nvPr/>
        </p:nvSpPr>
        <p:spPr>
          <a:xfrm>
            <a:off x="1554480" y="1737360"/>
            <a:ext cx="4206240" cy="566928"/>
          </a:xfrm>
          <a:prstGeom prst="rect">
            <a:avLst/>
          </a:prstGeom>
          <a:noFill/>
          <a:ln/>
        </p:spPr>
        <p:txBody>
          <a:bodyPr wrap="square" lIns="0" tIns="0" rIns="0" bIns="0" rtlCol="0" anchor="ctr"/>
          <a:lstStyle/>
          <a:p>
            <a:pPr indent="0" marL="0">
              <a:buNone/>
            </a:pPr>
            <a:r>
              <a:rPr lang="en-US" sz="1800" b="1" dirty="0">
                <a:solidFill>
                  <a:srgbClr val="17292C"/>
                </a:solidFill>
                <a:latin typeface="Cambria" pitchFamily="34" charset="0"/>
                <a:ea typeface="Cambria" pitchFamily="34" charset="-122"/>
                <a:cs typeface="Cambria" pitchFamily="34" charset="-120"/>
              </a:rPr>
              <a:t>Data kurang lengkap, nama sama</a:t>
            </a:r>
            <a:endParaRPr lang="en-US" sz="1800" dirty="0"/>
          </a:p>
        </p:txBody>
      </p:sp>
      <p:sp>
        <p:nvSpPr>
          <p:cNvPr id="10" name="Text 6"/>
          <p:cNvSpPr txBox="1"/>
          <p:nvPr/>
        </p:nvSpPr>
        <p:spPr>
          <a:xfrm>
            <a:off x="1554480" y="2423160"/>
            <a:ext cx="4251960" cy="960120"/>
          </a:xfrm>
          <a:prstGeom prst="rect">
            <a:avLst/>
          </a:prstGeom>
          <a:noFill/>
          <a:ln/>
        </p:spPr>
        <p:txBody>
          <a:bodyPr wrap="square" lIns="0" tIns="0" rIns="0" bIns="0" rtlCol="0" anchor="t"/>
          <a:lstStyle/>
          <a:p>
            <a:pPr indent="0" marL="0">
              <a:spcAft>
                <a:spcPts val="1000"/>
              </a:spcAft>
              <a:buNone/>
            </a:pPr>
            <a:r>
              <a:rPr lang="en-US" sz="1500" b="1" dirty="0">
                <a:solidFill>
                  <a:srgbClr val="A8321F"/>
                </a:solidFill>
                <a:latin typeface="Calibri" pitchFamily="34" charset="0"/>
                <a:ea typeface="Calibri" pitchFamily="34" charset="-122"/>
                <a:cs typeface="Calibri" pitchFamily="34" charset="-120"/>
              </a:rPr>
              <a:t>Dampak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Risiko salah orang atau salah perusahaan</a:t>
            </a:r>
            <a:endParaRPr lang="en-US" sz="1500" dirty="0"/>
          </a:p>
          <a:p>
            <a:pPr indent="0" marL="0">
              <a:spcAft>
                <a:spcPts val="1000"/>
              </a:spcAft>
              <a:buNone/>
            </a:pPr>
            <a:r>
              <a:rPr lang="en-US" sz="1500" b="1" dirty="0">
                <a:solidFill>
                  <a:srgbClr val="1E6F48"/>
                </a:solidFill>
                <a:latin typeface="Calibri" pitchFamily="34" charset="0"/>
                <a:ea typeface="Calibri" pitchFamily="34" charset="-122"/>
                <a:cs typeface="Calibri" pitchFamily="34" charset="-120"/>
              </a:rPr>
              <a:t>Respons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Entity linking, sumber bukti, antrean review</a:t>
            </a:r>
            <a:endParaRPr lang="en-US" sz="1500" dirty="0"/>
          </a:p>
        </p:txBody>
      </p:sp>
      <p:sp>
        <p:nvSpPr>
          <p:cNvPr id="11" name="Shape 7"/>
          <p:cNvSpPr/>
          <p:nvPr/>
        </p:nvSpPr>
        <p:spPr>
          <a:xfrm>
            <a:off x="6172200" y="1463040"/>
            <a:ext cx="5440680" cy="2057400"/>
          </a:xfrm>
          <a:prstGeom prst="roundRect">
            <a:avLst>
              <a:gd name="adj" fmla="val 3556"/>
            </a:avLst>
          </a:prstGeom>
          <a:solidFill>
            <a:srgbClr val="EDF5F5"/>
          </a:solidFill>
          <a:ln w="12700">
            <a:solidFill>
              <a:srgbClr val="EDF5F5"/>
            </a:solidFill>
            <a:prstDash val="solid"/>
          </a:ln>
        </p:spPr>
      </p:sp>
      <p:sp>
        <p:nvSpPr>
          <p:cNvPr id="12" name="Shape 8"/>
          <p:cNvSpPr/>
          <p:nvPr/>
        </p:nvSpPr>
        <p:spPr>
          <a:xfrm>
            <a:off x="6446520" y="1737360"/>
            <a:ext cx="566928" cy="566928"/>
          </a:xfrm>
          <a:prstGeom prst="ellipse">
            <a:avLst/>
          </a:prstGeom>
          <a:solidFill>
            <a:srgbClr val="154E54"/>
          </a:solidFill>
          <a:ln w="12700">
            <a:solidFill>
              <a:srgbClr val="154E54"/>
            </a:solidFill>
            <a:prstDash val="solid"/>
          </a:ln>
        </p:spPr>
      </p:sp>
      <p:pic>
        <p:nvPicPr>
          <p:cNvPr id="13" name="Image 1" descr="preencoded.png">    </p:cNvPr>
          <p:cNvPicPr>
            <a:picLocks noChangeAspect="1"/>
          </p:cNvPicPr>
          <p:nvPr/>
        </p:nvPicPr>
        <p:blipFill>
          <a:blip r:embed="rId2"/>
          <a:stretch>
            <a:fillRect/>
          </a:stretch>
        </p:blipFill>
        <p:spPr>
          <a:xfrm>
            <a:off x="6582583" y="1873423"/>
            <a:ext cx="294803" cy="294803"/>
          </a:xfrm>
          <a:prstGeom prst="rect">
            <a:avLst/>
          </a:prstGeom>
        </p:spPr>
      </p:pic>
      <p:sp>
        <p:nvSpPr>
          <p:cNvPr id="14" name="Text 9"/>
          <p:cNvSpPr txBox="1"/>
          <p:nvPr/>
        </p:nvSpPr>
        <p:spPr>
          <a:xfrm>
            <a:off x="7178040" y="1737360"/>
            <a:ext cx="4206240" cy="566928"/>
          </a:xfrm>
          <a:prstGeom prst="rect">
            <a:avLst/>
          </a:prstGeom>
          <a:noFill/>
          <a:ln/>
        </p:spPr>
        <p:txBody>
          <a:bodyPr wrap="square" lIns="0" tIns="0" rIns="0" bIns="0" rtlCol="0" anchor="ctr"/>
          <a:lstStyle/>
          <a:p>
            <a:pPr indent="0" marL="0">
              <a:buNone/>
            </a:pPr>
            <a:r>
              <a:rPr lang="en-US" sz="1800" b="1" dirty="0">
                <a:solidFill>
                  <a:srgbClr val="17292C"/>
                </a:solidFill>
                <a:latin typeface="Cambria" pitchFamily="34" charset="0"/>
                <a:ea typeface="Cambria" pitchFamily="34" charset="-122"/>
                <a:cs typeface="Cambria" pitchFamily="34" charset="-120"/>
              </a:rPr>
              <a:t>Riset dan penulisan berulang</a:t>
            </a:r>
            <a:endParaRPr lang="en-US" sz="1800" dirty="0"/>
          </a:p>
        </p:txBody>
      </p:sp>
      <p:sp>
        <p:nvSpPr>
          <p:cNvPr id="15" name="Text 10"/>
          <p:cNvSpPr txBox="1"/>
          <p:nvPr/>
        </p:nvSpPr>
        <p:spPr>
          <a:xfrm>
            <a:off x="7178040" y="2423160"/>
            <a:ext cx="4251960" cy="960120"/>
          </a:xfrm>
          <a:prstGeom prst="rect">
            <a:avLst/>
          </a:prstGeom>
          <a:noFill/>
          <a:ln/>
        </p:spPr>
        <p:txBody>
          <a:bodyPr wrap="square" lIns="0" tIns="0" rIns="0" bIns="0" rtlCol="0" anchor="t"/>
          <a:lstStyle/>
          <a:p>
            <a:pPr indent="0" marL="0">
              <a:spcAft>
                <a:spcPts val="1000"/>
              </a:spcAft>
              <a:buNone/>
            </a:pPr>
            <a:r>
              <a:rPr lang="en-US" sz="1500" b="1" dirty="0">
                <a:solidFill>
                  <a:srgbClr val="A8321F"/>
                </a:solidFill>
                <a:latin typeface="Calibri" pitchFamily="34" charset="0"/>
                <a:ea typeface="Calibri" pitchFamily="34" charset="-122"/>
                <a:cs typeface="Calibri" pitchFamily="34" charset="-120"/>
              </a:rPr>
              <a:t>Dampak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Persiapan lambat, banyak pindah aplikasi</a:t>
            </a:r>
            <a:endParaRPr lang="en-US" sz="1500" dirty="0"/>
          </a:p>
          <a:p>
            <a:pPr indent="0" marL="0">
              <a:spcAft>
                <a:spcPts val="1000"/>
              </a:spcAft>
              <a:buNone/>
            </a:pPr>
            <a:r>
              <a:rPr lang="en-US" sz="1500" b="1" dirty="0">
                <a:solidFill>
                  <a:srgbClr val="1E6F48"/>
                </a:solidFill>
                <a:latin typeface="Calibri" pitchFamily="34" charset="0"/>
                <a:ea typeface="Calibri" pitchFamily="34" charset="-122"/>
                <a:cs typeface="Calibri" pitchFamily="34" charset="-120"/>
              </a:rPr>
              <a:t>Respons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Agen khusus, template, pemrosesan batch</a:t>
            </a:r>
            <a:endParaRPr lang="en-US" sz="1500" dirty="0"/>
          </a:p>
        </p:txBody>
      </p:sp>
      <p:sp>
        <p:nvSpPr>
          <p:cNvPr id="16" name="Shape 11"/>
          <p:cNvSpPr/>
          <p:nvPr/>
        </p:nvSpPr>
        <p:spPr>
          <a:xfrm>
            <a:off x="548640" y="3794760"/>
            <a:ext cx="5440680" cy="2057400"/>
          </a:xfrm>
          <a:prstGeom prst="roundRect">
            <a:avLst>
              <a:gd name="adj" fmla="val 3556"/>
            </a:avLst>
          </a:prstGeom>
          <a:solidFill>
            <a:srgbClr val="EDF5F5"/>
          </a:solidFill>
          <a:ln w="12700">
            <a:solidFill>
              <a:srgbClr val="EDF5F5"/>
            </a:solidFill>
            <a:prstDash val="solid"/>
          </a:ln>
        </p:spPr>
      </p:sp>
      <p:sp>
        <p:nvSpPr>
          <p:cNvPr id="17" name="Shape 12"/>
          <p:cNvSpPr/>
          <p:nvPr/>
        </p:nvSpPr>
        <p:spPr>
          <a:xfrm>
            <a:off x="822960" y="4069080"/>
            <a:ext cx="566928" cy="566928"/>
          </a:xfrm>
          <a:prstGeom prst="ellipse">
            <a:avLst/>
          </a:prstGeom>
          <a:solidFill>
            <a:srgbClr val="154E54"/>
          </a:solidFill>
          <a:ln w="12700">
            <a:solidFill>
              <a:srgbClr val="154E54"/>
            </a:solidFill>
            <a:prstDash val="solid"/>
          </a:ln>
        </p:spPr>
      </p:sp>
      <p:pic>
        <p:nvPicPr>
          <p:cNvPr id="18" name="Image 2" descr="preencoded.png">    </p:cNvPr>
          <p:cNvPicPr>
            <a:picLocks noChangeAspect="1"/>
          </p:cNvPicPr>
          <p:nvPr/>
        </p:nvPicPr>
        <p:blipFill>
          <a:blip r:embed="rId3"/>
          <a:stretch>
            <a:fillRect/>
          </a:stretch>
        </p:blipFill>
        <p:spPr>
          <a:xfrm>
            <a:off x="959023" y="4205143"/>
            <a:ext cx="294803" cy="294803"/>
          </a:xfrm>
          <a:prstGeom prst="rect">
            <a:avLst/>
          </a:prstGeom>
        </p:spPr>
      </p:pic>
      <p:sp>
        <p:nvSpPr>
          <p:cNvPr id="19" name="Text 13"/>
          <p:cNvSpPr txBox="1"/>
          <p:nvPr/>
        </p:nvSpPr>
        <p:spPr>
          <a:xfrm>
            <a:off x="1554480" y="4069080"/>
            <a:ext cx="4206240" cy="566928"/>
          </a:xfrm>
          <a:prstGeom prst="rect">
            <a:avLst/>
          </a:prstGeom>
          <a:noFill/>
          <a:ln/>
        </p:spPr>
        <p:txBody>
          <a:bodyPr wrap="square" lIns="0" tIns="0" rIns="0" bIns="0" rtlCol="0" anchor="ctr"/>
          <a:lstStyle/>
          <a:p>
            <a:pPr indent="0" marL="0">
              <a:buNone/>
            </a:pPr>
            <a:r>
              <a:rPr lang="en-US" sz="1800" b="1" dirty="0">
                <a:solidFill>
                  <a:srgbClr val="17292C"/>
                </a:solidFill>
                <a:latin typeface="Cambria" pitchFamily="34" charset="0"/>
                <a:ea typeface="Cambria" pitchFamily="34" charset="-122"/>
                <a:cs typeface="Cambria" pitchFamily="34" charset="-120"/>
              </a:rPr>
              <a:t>Koordinasi dan jadwal terpisah</a:t>
            </a:r>
            <a:endParaRPr lang="en-US" sz="1800" dirty="0"/>
          </a:p>
        </p:txBody>
      </p:sp>
      <p:sp>
        <p:nvSpPr>
          <p:cNvPr id="20" name="Text 14"/>
          <p:cNvSpPr txBox="1"/>
          <p:nvPr/>
        </p:nvSpPr>
        <p:spPr>
          <a:xfrm>
            <a:off x="1554480" y="4754880"/>
            <a:ext cx="4251960" cy="960120"/>
          </a:xfrm>
          <a:prstGeom prst="rect">
            <a:avLst/>
          </a:prstGeom>
          <a:noFill/>
          <a:ln/>
        </p:spPr>
        <p:txBody>
          <a:bodyPr wrap="square" lIns="0" tIns="0" rIns="0" bIns="0" rtlCol="0" anchor="t"/>
          <a:lstStyle/>
          <a:p>
            <a:pPr indent="0" marL="0">
              <a:spcAft>
                <a:spcPts val="1000"/>
              </a:spcAft>
              <a:buNone/>
            </a:pPr>
            <a:r>
              <a:rPr lang="en-US" sz="1500" b="1" dirty="0">
                <a:solidFill>
                  <a:srgbClr val="A8321F"/>
                </a:solidFill>
                <a:latin typeface="Calibri" pitchFamily="34" charset="0"/>
                <a:ea typeface="Calibri" pitchFamily="34" charset="-122"/>
                <a:cs typeface="Calibri" pitchFamily="34" charset="-120"/>
              </a:rPr>
              <a:t>Dampak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Draft terlewat atau kontak dikirimi dua kali</a:t>
            </a:r>
            <a:endParaRPr lang="en-US" sz="1500" dirty="0"/>
          </a:p>
          <a:p>
            <a:pPr indent="0" marL="0">
              <a:spcAft>
                <a:spcPts val="1000"/>
              </a:spcAft>
              <a:buNone/>
            </a:pPr>
            <a:r>
              <a:rPr lang="en-US" sz="1500" b="1" dirty="0">
                <a:solidFill>
                  <a:srgbClr val="1E6F48"/>
                </a:solidFill>
                <a:latin typeface="Calibri" pitchFamily="34" charset="0"/>
                <a:ea typeface="Calibri" pitchFamily="34" charset="-122"/>
                <a:cs typeface="Calibri" pitchFamily="34" charset="-120"/>
              </a:rPr>
              <a:t>Respons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Orchestrator, state per task, kunci kirim</a:t>
            </a:r>
            <a:endParaRPr lang="en-US" sz="1500" dirty="0"/>
          </a:p>
        </p:txBody>
      </p:sp>
      <p:sp>
        <p:nvSpPr>
          <p:cNvPr id="21" name="Shape 15"/>
          <p:cNvSpPr/>
          <p:nvPr/>
        </p:nvSpPr>
        <p:spPr>
          <a:xfrm>
            <a:off x="6172200" y="3794760"/>
            <a:ext cx="5440680" cy="2057400"/>
          </a:xfrm>
          <a:prstGeom prst="roundRect">
            <a:avLst>
              <a:gd name="adj" fmla="val 3556"/>
            </a:avLst>
          </a:prstGeom>
          <a:solidFill>
            <a:srgbClr val="EDF5F5"/>
          </a:solidFill>
          <a:ln w="12700">
            <a:solidFill>
              <a:srgbClr val="EDF5F5"/>
            </a:solidFill>
            <a:prstDash val="solid"/>
          </a:ln>
        </p:spPr>
      </p:sp>
      <p:sp>
        <p:nvSpPr>
          <p:cNvPr id="22" name="Shape 16"/>
          <p:cNvSpPr/>
          <p:nvPr/>
        </p:nvSpPr>
        <p:spPr>
          <a:xfrm>
            <a:off x="6446520" y="4069080"/>
            <a:ext cx="566928" cy="566928"/>
          </a:xfrm>
          <a:prstGeom prst="ellipse">
            <a:avLst/>
          </a:prstGeom>
          <a:solidFill>
            <a:srgbClr val="154E54"/>
          </a:solidFill>
          <a:ln w="12700">
            <a:solidFill>
              <a:srgbClr val="154E54"/>
            </a:solidFill>
            <a:prstDash val="solid"/>
          </a:ln>
        </p:spPr>
      </p:sp>
      <p:pic>
        <p:nvPicPr>
          <p:cNvPr id="23" name="Image 3" descr="preencoded.png">    </p:cNvPr>
          <p:cNvPicPr>
            <a:picLocks noChangeAspect="1"/>
          </p:cNvPicPr>
          <p:nvPr/>
        </p:nvPicPr>
        <p:blipFill>
          <a:blip r:embed="rId4"/>
          <a:stretch>
            <a:fillRect/>
          </a:stretch>
        </p:blipFill>
        <p:spPr>
          <a:xfrm>
            <a:off x="6582583" y="4205143"/>
            <a:ext cx="294803" cy="294803"/>
          </a:xfrm>
          <a:prstGeom prst="rect">
            <a:avLst/>
          </a:prstGeom>
        </p:spPr>
      </p:pic>
      <p:sp>
        <p:nvSpPr>
          <p:cNvPr id="24" name="Text 17"/>
          <p:cNvSpPr txBox="1"/>
          <p:nvPr/>
        </p:nvSpPr>
        <p:spPr>
          <a:xfrm>
            <a:off x="7178040" y="4069080"/>
            <a:ext cx="4206240" cy="566928"/>
          </a:xfrm>
          <a:prstGeom prst="rect">
            <a:avLst/>
          </a:prstGeom>
          <a:noFill/>
          <a:ln/>
        </p:spPr>
        <p:txBody>
          <a:bodyPr wrap="square" lIns="0" tIns="0" rIns="0" bIns="0" rtlCol="0" anchor="ctr"/>
          <a:lstStyle/>
          <a:p>
            <a:pPr indent="0" marL="0">
              <a:buNone/>
            </a:pPr>
            <a:r>
              <a:rPr lang="en-US" sz="1800" b="1" dirty="0">
                <a:solidFill>
                  <a:srgbClr val="17292C"/>
                </a:solidFill>
                <a:latin typeface="Cambria" pitchFamily="34" charset="0"/>
                <a:ea typeface="Cambria" pitchFamily="34" charset="-122"/>
                <a:cs typeface="Cambria" pitchFamily="34" charset="-120"/>
              </a:rPr>
              <a:t>Privasi dan fakta tidak teruji</a:t>
            </a:r>
            <a:endParaRPr lang="en-US" sz="1800" dirty="0"/>
          </a:p>
        </p:txBody>
      </p:sp>
      <p:sp>
        <p:nvSpPr>
          <p:cNvPr id="25" name="Text 18"/>
          <p:cNvSpPr txBox="1"/>
          <p:nvPr/>
        </p:nvSpPr>
        <p:spPr>
          <a:xfrm>
            <a:off x="7178040" y="4754880"/>
            <a:ext cx="4251960" cy="960120"/>
          </a:xfrm>
          <a:prstGeom prst="rect">
            <a:avLst/>
          </a:prstGeom>
          <a:noFill/>
          <a:ln/>
        </p:spPr>
        <p:txBody>
          <a:bodyPr wrap="square" lIns="0" tIns="0" rIns="0" bIns="0" rtlCol="0" anchor="t"/>
          <a:lstStyle/>
          <a:p>
            <a:pPr indent="0" marL="0">
              <a:spcAft>
                <a:spcPts val="1000"/>
              </a:spcAft>
              <a:buNone/>
            </a:pPr>
            <a:r>
              <a:rPr lang="en-US" sz="1500" b="1" dirty="0">
                <a:solidFill>
                  <a:srgbClr val="A8321F"/>
                </a:solidFill>
                <a:latin typeface="Calibri" pitchFamily="34" charset="0"/>
                <a:ea typeface="Calibri" pitchFamily="34" charset="-122"/>
                <a:cs typeface="Calibri" pitchFamily="34" charset="-120"/>
              </a:rPr>
              <a:t>Dampak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Kontak tanpa izin, personalisasi keliru</a:t>
            </a:r>
            <a:endParaRPr lang="en-US" sz="1500" dirty="0"/>
          </a:p>
          <a:p>
            <a:pPr indent="0" marL="0">
              <a:spcAft>
                <a:spcPts val="1000"/>
              </a:spcAft>
              <a:buNone/>
            </a:pPr>
            <a:r>
              <a:rPr lang="en-US" sz="1500" b="1" dirty="0">
                <a:solidFill>
                  <a:srgbClr val="1E6F48"/>
                </a:solidFill>
                <a:latin typeface="Calibri" pitchFamily="34" charset="0"/>
                <a:ea typeface="Calibri" pitchFamily="34" charset="-122"/>
                <a:cs typeface="Calibri" pitchFamily="34" charset="-120"/>
              </a:rPr>
              <a:t>Respons  </a:t>
            </a:r>
            <a:pPr indent="0" marL="0">
              <a:spcAft>
                <a:spcPts val="1000"/>
              </a:spcAft>
              <a:buNone/>
            </a:pPr>
            <a:r>
              <a:rPr lang="en-US" sz="1500" dirty="0">
                <a:solidFill>
                  <a:srgbClr val="3F5558"/>
                </a:solidFill>
                <a:latin typeface="Calibri" pitchFamily="34" charset="0"/>
                <a:ea typeface="Calibri" pitchFamily="34" charset="-122"/>
                <a:cs typeface="Calibri" pitchFamily="34" charset="-120"/>
              </a:rPr>
              <a:t>Security gate, approval manusia, suppression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Tujuan: email relevan yang setiap klaimnya bisa ditelusuri</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3</a:t>
            </a:r>
            <a:endParaRPr lang="en-US" sz="1000" dirty="0"/>
          </a:p>
        </p:txBody>
      </p:sp>
      <p:sp>
        <p:nvSpPr>
          <p:cNvPr id="6" name="Shape 3"/>
          <p:cNvSpPr/>
          <p:nvPr/>
        </p:nvSpPr>
        <p:spPr>
          <a:xfrm>
            <a:off x="548640" y="1463040"/>
            <a:ext cx="2633472" cy="3749040"/>
          </a:xfrm>
          <a:prstGeom prst="roundRect">
            <a:avLst>
              <a:gd name="adj" fmla="val 2778"/>
            </a:avLst>
          </a:prstGeom>
          <a:solidFill>
            <a:srgbClr val="EDF5F5"/>
          </a:solidFill>
          <a:ln w="12700">
            <a:solidFill>
              <a:srgbClr val="EDF5F5"/>
            </a:solidFill>
            <a:prstDash val="solid"/>
          </a:ln>
        </p:spPr>
      </p:sp>
      <p:sp>
        <p:nvSpPr>
          <p:cNvPr id="7" name="Shape 4"/>
          <p:cNvSpPr/>
          <p:nvPr/>
        </p:nvSpPr>
        <p:spPr>
          <a:xfrm>
            <a:off x="822960" y="1737360"/>
            <a:ext cx="731520" cy="731520"/>
          </a:xfrm>
          <a:prstGeom prst="ellipse">
            <a:avLst/>
          </a:prstGeom>
          <a:solidFill>
            <a:srgbClr val="154E54"/>
          </a:solidFill>
          <a:ln w="12700">
            <a:solidFill>
              <a:srgbClr val="154E54"/>
            </a:solidFill>
            <a:prstDash val="solid"/>
          </a:ln>
        </p:spPr>
      </p:sp>
      <p:pic>
        <p:nvPicPr>
          <p:cNvPr id="8" name="Image 0" descr="preencoded.png">    </p:cNvPr>
          <p:cNvPicPr>
            <a:picLocks noChangeAspect="1"/>
          </p:cNvPicPr>
          <p:nvPr/>
        </p:nvPicPr>
        <p:blipFill>
          <a:blip r:embed="rId1"/>
          <a:stretch>
            <a:fillRect/>
          </a:stretch>
        </p:blipFill>
        <p:spPr>
          <a:xfrm>
            <a:off x="998525" y="1912925"/>
            <a:ext cx="380390" cy="380390"/>
          </a:xfrm>
          <a:prstGeom prst="rect">
            <a:avLst/>
          </a:prstGeom>
        </p:spPr>
      </p:pic>
      <p:sp>
        <p:nvSpPr>
          <p:cNvPr id="9" name="Text 5"/>
          <p:cNvSpPr txBox="1"/>
          <p:nvPr/>
        </p:nvSpPr>
        <p:spPr>
          <a:xfrm>
            <a:off x="822960" y="2697480"/>
            <a:ext cx="2194560" cy="822960"/>
          </a:xfrm>
          <a:prstGeom prst="rect">
            <a:avLst/>
          </a:prstGeom>
          <a:noFill/>
          <a:ln/>
        </p:spPr>
        <p:txBody>
          <a:bodyPr wrap="square" lIns="0" tIns="0" rIns="0" bIns="0" rtlCol="0" anchor="t"/>
          <a:lstStyle/>
          <a:p>
            <a:pPr indent="0" marL="0">
              <a:buNone/>
            </a:pPr>
            <a:r>
              <a:rPr lang="en-US" sz="1900" b="1" dirty="0">
                <a:solidFill>
                  <a:srgbClr val="17292C"/>
                </a:solidFill>
                <a:latin typeface="Cambria" pitchFamily="34" charset="0"/>
                <a:ea typeface="Cambria" pitchFamily="34" charset="-122"/>
                <a:cs typeface="Cambria" pitchFamily="34" charset="-120"/>
              </a:rPr>
              <a:t>Bukti sebelum klaim</a:t>
            </a:r>
            <a:endParaRPr lang="en-US" sz="1900" dirty="0"/>
          </a:p>
        </p:txBody>
      </p:sp>
      <p:sp>
        <p:nvSpPr>
          <p:cNvPr id="10" name="Text 6"/>
          <p:cNvSpPr txBox="1"/>
          <p:nvPr/>
        </p:nvSpPr>
        <p:spPr>
          <a:xfrm>
            <a:off x="822960" y="3520440"/>
            <a:ext cx="2148840" cy="1554480"/>
          </a:xfrm>
          <a:prstGeom prst="rect">
            <a:avLst/>
          </a:prstGeom>
          <a:noFill/>
          <a:ln/>
        </p:spPr>
        <p:txBody>
          <a:bodyPr wrap="square" lIns="0" tIns="0" rIns="0" bIns="0" rtlCol="0" anchor="t"/>
          <a:lstStyle/>
          <a:p>
            <a:pPr indent="0" marL="0">
              <a:buNone/>
            </a:pPr>
            <a:r>
              <a:rPr lang="en-US" sz="1400" dirty="0">
                <a:solidFill>
                  <a:srgbClr val="3F5558"/>
                </a:solidFill>
                <a:latin typeface="Calibri" pitchFamily="34" charset="0"/>
                <a:ea typeface="Calibri" pitchFamily="34" charset="-122"/>
                <a:cs typeface="Calibri" pitchFamily="34" charset="-120"/>
              </a:rPr>
              <a:t>Setiap fakta di email membawa sumber, waktu pengambilan, dan kutipan.</a:t>
            </a:r>
            <a:endParaRPr lang="en-US" sz="1400" dirty="0"/>
          </a:p>
        </p:txBody>
      </p:sp>
      <p:sp>
        <p:nvSpPr>
          <p:cNvPr id="11" name="Shape 7"/>
          <p:cNvSpPr/>
          <p:nvPr/>
        </p:nvSpPr>
        <p:spPr>
          <a:xfrm>
            <a:off x="3364992" y="1463040"/>
            <a:ext cx="2633472" cy="3749040"/>
          </a:xfrm>
          <a:prstGeom prst="roundRect">
            <a:avLst>
              <a:gd name="adj" fmla="val 2778"/>
            </a:avLst>
          </a:prstGeom>
          <a:solidFill>
            <a:srgbClr val="EDF5F5"/>
          </a:solidFill>
          <a:ln w="12700">
            <a:solidFill>
              <a:srgbClr val="EDF5F5"/>
            </a:solidFill>
            <a:prstDash val="solid"/>
          </a:ln>
        </p:spPr>
      </p:sp>
      <p:sp>
        <p:nvSpPr>
          <p:cNvPr id="12" name="Shape 8"/>
          <p:cNvSpPr/>
          <p:nvPr/>
        </p:nvSpPr>
        <p:spPr>
          <a:xfrm>
            <a:off x="3639312" y="1737360"/>
            <a:ext cx="731520" cy="731520"/>
          </a:xfrm>
          <a:prstGeom prst="ellipse">
            <a:avLst/>
          </a:prstGeom>
          <a:solidFill>
            <a:srgbClr val="154E54"/>
          </a:solidFill>
          <a:ln w="12700">
            <a:solidFill>
              <a:srgbClr val="154E54"/>
            </a:solidFill>
            <a:prstDash val="solid"/>
          </a:ln>
        </p:spPr>
      </p:sp>
      <p:pic>
        <p:nvPicPr>
          <p:cNvPr id="13" name="Image 1" descr="preencoded.png">    </p:cNvPr>
          <p:cNvPicPr>
            <a:picLocks noChangeAspect="1"/>
          </p:cNvPicPr>
          <p:nvPr/>
        </p:nvPicPr>
        <p:blipFill>
          <a:blip r:embed="rId2"/>
          <a:stretch>
            <a:fillRect/>
          </a:stretch>
        </p:blipFill>
        <p:spPr>
          <a:xfrm>
            <a:off x="3814877" y="1912925"/>
            <a:ext cx="380390" cy="380390"/>
          </a:xfrm>
          <a:prstGeom prst="rect">
            <a:avLst/>
          </a:prstGeom>
        </p:spPr>
      </p:pic>
      <p:sp>
        <p:nvSpPr>
          <p:cNvPr id="14" name="Text 9"/>
          <p:cNvSpPr txBox="1"/>
          <p:nvPr/>
        </p:nvSpPr>
        <p:spPr>
          <a:xfrm>
            <a:off x="3639312" y="2697480"/>
            <a:ext cx="2194560" cy="822960"/>
          </a:xfrm>
          <a:prstGeom prst="rect">
            <a:avLst/>
          </a:prstGeom>
          <a:noFill/>
          <a:ln/>
        </p:spPr>
        <p:txBody>
          <a:bodyPr wrap="square" lIns="0" tIns="0" rIns="0" bIns="0" rtlCol="0" anchor="t"/>
          <a:lstStyle/>
          <a:p>
            <a:pPr indent="0" marL="0">
              <a:buNone/>
            </a:pPr>
            <a:r>
              <a:rPr lang="en-US" sz="1900" b="1" dirty="0">
                <a:solidFill>
                  <a:srgbClr val="17292C"/>
                </a:solidFill>
                <a:latin typeface="Cambria" pitchFamily="34" charset="0"/>
                <a:ea typeface="Cambria" pitchFamily="34" charset="-122"/>
                <a:cs typeface="Cambria" pitchFamily="34" charset="-120"/>
              </a:rPr>
              <a:t>Konteks agen sempit</a:t>
            </a:r>
            <a:endParaRPr lang="en-US" sz="1900" dirty="0"/>
          </a:p>
        </p:txBody>
      </p:sp>
      <p:sp>
        <p:nvSpPr>
          <p:cNvPr id="15" name="Text 10"/>
          <p:cNvSpPr txBox="1"/>
          <p:nvPr/>
        </p:nvSpPr>
        <p:spPr>
          <a:xfrm>
            <a:off x="3639312" y="3520440"/>
            <a:ext cx="2148840" cy="1554480"/>
          </a:xfrm>
          <a:prstGeom prst="rect">
            <a:avLst/>
          </a:prstGeom>
          <a:noFill/>
          <a:ln/>
        </p:spPr>
        <p:txBody>
          <a:bodyPr wrap="square" lIns="0" tIns="0" rIns="0" bIns="0" rtlCol="0" anchor="t"/>
          <a:lstStyle/>
          <a:p>
            <a:pPr indent="0" marL="0">
              <a:buNone/>
            </a:pPr>
            <a:r>
              <a:rPr lang="en-US" sz="1400" dirty="0">
                <a:solidFill>
                  <a:srgbClr val="3F5558"/>
                </a:solidFill>
                <a:latin typeface="Calibri" pitchFamily="34" charset="0"/>
                <a:ea typeface="Calibri" pitchFamily="34" charset="-122"/>
                <a:cs typeface="Calibri" pitchFamily="34" charset="-120"/>
              </a:rPr>
              <a:t>Satu task terfokus per lead; agen bertukar JSON dan referensi, bukan riwayat percakapan.</a:t>
            </a:r>
            <a:endParaRPr lang="en-US" sz="1400" dirty="0"/>
          </a:p>
        </p:txBody>
      </p:sp>
      <p:sp>
        <p:nvSpPr>
          <p:cNvPr id="16" name="Shape 11"/>
          <p:cNvSpPr/>
          <p:nvPr/>
        </p:nvSpPr>
        <p:spPr>
          <a:xfrm>
            <a:off x="6181344" y="1463040"/>
            <a:ext cx="2633472" cy="3749040"/>
          </a:xfrm>
          <a:prstGeom prst="roundRect">
            <a:avLst>
              <a:gd name="adj" fmla="val 2778"/>
            </a:avLst>
          </a:prstGeom>
          <a:solidFill>
            <a:srgbClr val="EDF5F5"/>
          </a:solidFill>
          <a:ln w="12700">
            <a:solidFill>
              <a:srgbClr val="EDF5F5"/>
            </a:solidFill>
            <a:prstDash val="solid"/>
          </a:ln>
        </p:spPr>
      </p:sp>
      <p:sp>
        <p:nvSpPr>
          <p:cNvPr id="17" name="Shape 12"/>
          <p:cNvSpPr/>
          <p:nvPr/>
        </p:nvSpPr>
        <p:spPr>
          <a:xfrm>
            <a:off x="6455664" y="1737360"/>
            <a:ext cx="731520" cy="731520"/>
          </a:xfrm>
          <a:prstGeom prst="ellipse">
            <a:avLst/>
          </a:prstGeom>
          <a:solidFill>
            <a:srgbClr val="154E54"/>
          </a:solidFill>
          <a:ln w="12700">
            <a:solidFill>
              <a:srgbClr val="154E54"/>
            </a:solidFill>
            <a:prstDash val="solid"/>
          </a:ln>
        </p:spPr>
      </p:sp>
      <p:pic>
        <p:nvPicPr>
          <p:cNvPr id="18" name="Image 2" descr="preencoded.png">    </p:cNvPr>
          <p:cNvPicPr>
            <a:picLocks noChangeAspect="1"/>
          </p:cNvPicPr>
          <p:nvPr/>
        </p:nvPicPr>
        <p:blipFill>
          <a:blip r:embed="rId3"/>
          <a:stretch>
            <a:fillRect/>
          </a:stretch>
        </p:blipFill>
        <p:spPr>
          <a:xfrm>
            <a:off x="6631229" y="1912925"/>
            <a:ext cx="380390" cy="380390"/>
          </a:xfrm>
          <a:prstGeom prst="rect">
            <a:avLst/>
          </a:prstGeom>
        </p:spPr>
      </p:pic>
      <p:sp>
        <p:nvSpPr>
          <p:cNvPr id="19" name="Text 13"/>
          <p:cNvSpPr txBox="1"/>
          <p:nvPr/>
        </p:nvSpPr>
        <p:spPr>
          <a:xfrm>
            <a:off x="6455664" y="2697480"/>
            <a:ext cx="2194560" cy="822960"/>
          </a:xfrm>
          <a:prstGeom prst="rect">
            <a:avLst/>
          </a:prstGeom>
          <a:noFill/>
          <a:ln/>
        </p:spPr>
        <p:txBody>
          <a:bodyPr wrap="square" lIns="0" tIns="0" rIns="0" bIns="0" rtlCol="0" anchor="t"/>
          <a:lstStyle/>
          <a:p>
            <a:pPr indent="0" marL="0">
              <a:buNone/>
            </a:pPr>
            <a:r>
              <a:rPr lang="en-US" sz="1900" b="1" dirty="0">
                <a:solidFill>
                  <a:srgbClr val="17292C"/>
                </a:solidFill>
                <a:latin typeface="Cambria" pitchFamily="34" charset="0"/>
                <a:ea typeface="Cambria" pitchFamily="34" charset="-122"/>
                <a:cs typeface="Cambria" pitchFamily="34" charset="-120"/>
              </a:rPr>
              <a:t>Mobilitas diuji</a:t>
            </a:r>
            <a:endParaRPr lang="en-US" sz="1900" dirty="0"/>
          </a:p>
        </p:txBody>
      </p:sp>
      <p:sp>
        <p:nvSpPr>
          <p:cNvPr id="20" name="Text 14"/>
          <p:cNvSpPr txBox="1"/>
          <p:nvPr/>
        </p:nvSpPr>
        <p:spPr>
          <a:xfrm>
            <a:off x="6455664" y="3520440"/>
            <a:ext cx="2148840" cy="1554480"/>
          </a:xfrm>
          <a:prstGeom prst="rect">
            <a:avLst/>
          </a:prstGeom>
          <a:noFill/>
          <a:ln/>
        </p:spPr>
        <p:txBody>
          <a:bodyPr wrap="square" lIns="0" tIns="0" rIns="0" bIns="0" rtlCol="0" anchor="t"/>
          <a:lstStyle/>
          <a:p>
            <a:pPr indent="0" marL="0">
              <a:buNone/>
            </a:pPr>
            <a:r>
              <a:rPr lang="en-US" sz="1400" dirty="0">
                <a:solidFill>
                  <a:srgbClr val="3F5558"/>
                </a:solidFill>
                <a:latin typeface="Calibri" pitchFamily="34" charset="0"/>
                <a:ea typeface="Calibri" pitchFamily="34" charset="-122"/>
                <a:cs typeface="Calibri" pitchFamily="34" charset="-120"/>
              </a:rPr>
              <a:t>Agen riset/enrichment dapat berpindah runtime lewat checkpoint; manfaatnya diukur.</a:t>
            </a:r>
            <a:endParaRPr lang="en-US" sz="1400" dirty="0"/>
          </a:p>
        </p:txBody>
      </p:sp>
      <p:sp>
        <p:nvSpPr>
          <p:cNvPr id="21" name="Shape 15"/>
          <p:cNvSpPr/>
          <p:nvPr/>
        </p:nvSpPr>
        <p:spPr>
          <a:xfrm>
            <a:off x="8997696" y="1463040"/>
            <a:ext cx="2633472" cy="3749040"/>
          </a:xfrm>
          <a:prstGeom prst="roundRect">
            <a:avLst>
              <a:gd name="adj" fmla="val 2778"/>
            </a:avLst>
          </a:prstGeom>
          <a:solidFill>
            <a:srgbClr val="EDF5F5"/>
          </a:solidFill>
          <a:ln w="12700">
            <a:solidFill>
              <a:srgbClr val="EDF5F5"/>
            </a:solidFill>
            <a:prstDash val="solid"/>
          </a:ln>
        </p:spPr>
      </p:sp>
      <p:sp>
        <p:nvSpPr>
          <p:cNvPr id="22" name="Shape 16"/>
          <p:cNvSpPr/>
          <p:nvPr/>
        </p:nvSpPr>
        <p:spPr>
          <a:xfrm>
            <a:off x="9272016" y="1737360"/>
            <a:ext cx="731520" cy="731520"/>
          </a:xfrm>
          <a:prstGeom prst="ellipse">
            <a:avLst/>
          </a:prstGeom>
          <a:solidFill>
            <a:srgbClr val="154E54"/>
          </a:solidFill>
          <a:ln w="12700">
            <a:solidFill>
              <a:srgbClr val="154E54"/>
            </a:solidFill>
            <a:prstDash val="solid"/>
          </a:ln>
        </p:spPr>
      </p:sp>
      <p:pic>
        <p:nvPicPr>
          <p:cNvPr id="23" name="Image 3" descr="preencoded.png">    </p:cNvPr>
          <p:cNvPicPr>
            <a:picLocks noChangeAspect="1"/>
          </p:cNvPicPr>
          <p:nvPr/>
        </p:nvPicPr>
        <p:blipFill>
          <a:blip r:embed="rId4"/>
          <a:stretch>
            <a:fillRect/>
          </a:stretch>
        </p:blipFill>
        <p:spPr>
          <a:xfrm>
            <a:off x="9447581" y="1912925"/>
            <a:ext cx="380390" cy="380390"/>
          </a:xfrm>
          <a:prstGeom prst="rect">
            <a:avLst/>
          </a:prstGeom>
        </p:spPr>
      </p:pic>
      <p:sp>
        <p:nvSpPr>
          <p:cNvPr id="24" name="Text 17"/>
          <p:cNvSpPr txBox="1"/>
          <p:nvPr/>
        </p:nvSpPr>
        <p:spPr>
          <a:xfrm>
            <a:off x="9272016" y="2697480"/>
            <a:ext cx="2194560" cy="822960"/>
          </a:xfrm>
          <a:prstGeom prst="rect">
            <a:avLst/>
          </a:prstGeom>
          <a:noFill/>
          <a:ln/>
        </p:spPr>
        <p:txBody>
          <a:bodyPr wrap="square" lIns="0" tIns="0" rIns="0" bIns="0" rtlCol="0" anchor="t"/>
          <a:lstStyle/>
          <a:p>
            <a:pPr indent="0" marL="0">
              <a:buNone/>
            </a:pPr>
            <a:r>
              <a:rPr lang="en-US" sz="1900" b="1" dirty="0">
                <a:solidFill>
                  <a:srgbClr val="17292C"/>
                </a:solidFill>
                <a:latin typeface="Cambria" pitchFamily="34" charset="0"/>
                <a:ea typeface="Cambria" pitchFamily="34" charset="-122"/>
                <a:cs typeface="Cambria" pitchFamily="34" charset="-120"/>
              </a:rPr>
              <a:t>Manusia memutuskan</a:t>
            </a:r>
            <a:endParaRPr lang="en-US" sz="1900" dirty="0"/>
          </a:p>
        </p:txBody>
      </p:sp>
      <p:sp>
        <p:nvSpPr>
          <p:cNvPr id="25" name="Text 18"/>
          <p:cNvSpPr txBox="1"/>
          <p:nvPr/>
        </p:nvSpPr>
        <p:spPr>
          <a:xfrm>
            <a:off x="9272016" y="3520440"/>
            <a:ext cx="2148840" cy="1554480"/>
          </a:xfrm>
          <a:prstGeom prst="rect">
            <a:avLst/>
          </a:prstGeom>
          <a:noFill/>
          <a:ln/>
        </p:spPr>
        <p:txBody>
          <a:bodyPr wrap="square" lIns="0" tIns="0" rIns="0" bIns="0" rtlCol="0" anchor="t"/>
          <a:lstStyle/>
          <a:p>
            <a:pPr indent="0" marL="0">
              <a:buNone/>
            </a:pPr>
            <a:r>
              <a:rPr lang="en-US" sz="1400" dirty="0">
                <a:solidFill>
                  <a:srgbClr val="3F5558"/>
                </a:solidFill>
                <a:latin typeface="Calibri" pitchFamily="34" charset="0"/>
                <a:ea typeface="Calibri" pitchFamily="34" charset="-122"/>
                <a:cs typeface="Calibri" pitchFamily="34" charset="-120"/>
              </a:rPr>
              <a:t>Approval terikat versi draft; LLM tidak dapat membatalkan blokir aturan.</a:t>
            </a:r>
            <a:endParaRPr lang="en-US" sz="1400" dirty="0"/>
          </a:p>
        </p:txBody>
      </p:sp>
      <p:sp>
        <p:nvSpPr>
          <p:cNvPr id="26" name="Text 19"/>
          <p:cNvSpPr txBox="1"/>
          <p:nvPr/>
        </p:nvSpPr>
        <p:spPr>
          <a:xfrm>
            <a:off x="548640" y="5532120"/>
            <a:ext cx="11064240" cy="457200"/>
          </a:xfrm>
          <a:prstGeom prst="rect">
            <a:avLst/>
          </a:prstGeom>
          <a:noFill/>
          <a:ln/>
        </p:spPr>
        <p:txBody>
          <a:bodyPr wrap="square" lIns="0" tIns="0" rIns="0" bIns="0" rtlCol="0" anchor="t"/>
          <a:lstStyle/>
          <a:p>
            <a:pPr indent="0" marL="0">
              <a:buNone/>
            </a:pPr>
            <a:r>
              <a:rPr lang="en-US" sz="1400" b="1" dirty="0">
                <a:solidFill>
                  <a:srgbClr val="3F5558"/>
                </a:solidFill>
                <a:latin typeface="Calibri" pitchFamily="34" charset="0"/>
                <a:ea typeface="Calibri" pitchFamily="34" charset="-122"/>
                <a:cs typeface="Calibri" pitchFamily="34" charset="-120"/>
              </a:rPr>
              <a:t>Sasaran rubrik: </a:t>
            </a:r>
            <a:pPr indent="0" marL="0">
              <a:buNone/>
            </a:pPr>
            <a:r>
              <a:rPr lang="en-US" sz="1400" dirty="0">
                <a:solidFill>
                  <a:srgbClr val="3F5558"/>
                </a:solidFill>
                <a:latin typeface="Calibri" pitchFamily="34" charset="0"/>
                <a:ea typeface="Calibri" pitchFamily="34" charset="-122"/>
                <a:cs typeface="Calibri" pitchFamily="34" charset="-120"/>
              </a:rPr>
              <a:t>fungsi bisnis, integrasi AI (DL/LLM, ML, RL), UI/UX tiga langkah, dan mobile intelligent agents.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Posisi terhadap solusi yang ada</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4</a:t>
            </a:r>
            <a:endParaRPr lang="en-US" sz="1000" dirty="0"/>
          </a:p>
        </p:txBody>
      </p:sp>
      <p:sp>
        <p:nvSpPr>
          <p:cNvPr id="6" name="Text 3"/>
          <p:cNvSpPr txBox="1"/>
          <p:nvPr/>
        </p:nvSpPr>
        <p:spPr>
          <a:xfrm>
            <a:off x="548640" y="1371600"/>
            <a:ext cx="5943600" cy="365760"/>
          </a:xfrm>
          <a:prstGeom prst="rect">
            <a:avLst/>
          </a:prstGeom>
          <a:noFill/>
          <a:ln/>
        </p:spPr>
        <p:txBody>
          <a:bodyPr wrap="square" lIns="0" tIns="0" rIns="0" bIns="0" rtlCol="0" anchor="t"/>
          <a:lstStyle/>
          <a:p>
            <a:pPr indent="0" marL="0">
              <a:buNone/>
            </a:pPr>
            <a:r>
              <a:rPr lang="en-US" sz="1400" b="1" dirty="0">
                <a:solidFill>
                  <a:srgbClr val="2F7D84"/>
                </a:solidFill>
                <a:latin typeface="Calibri" pitchFamily="34" charset="0"/>
                <a:ea typeface="Calibri" pitchFamily="34" charset="-122"/>
                <a:cs typeface="Calibri" pitchFamily="34" charset="-120"/>
              </a:rPr>
              <a:t>Solusi komersial</a:t>
            </a:r>
            <a:endParaRPr lang="en-US" sz="1400" dirty="0"/>
          </a:p>
        </p:txBody>
      </p:sp>
      <p:sp>
        <p:nvSpPr>
          <p:cNvPr id="7" name="Shape 4"/>
          <p:cNvSpPr/>
          <p:nvPr/>
        </p:nvSpPr>
        <p:spPr>
          <a:xfrm>
            <a:off x="548640" y="1783080"/>
            <a:ext cx="5943600" cy="676656"/>
          </a:xfrm>
          <a:prstGeom prst="roundRect">
            <a:avLst>
              <a:gd name="adj" fmla="val 10811"/>
            </a:avLst>
          </a:prstGeom>
          <a:solidFill>
            <a:srgbClr val="EDF5F5"/>
          </a:solidFill>
          <a:ln w="12700">
            <a:solidFill>
              <a:srgbClr val="EDF5F5"/>
            </a:solidFill>
            <a:prstDash val="solid"/>
          </a:ln>
        </p:spPr>
      </p:sp>
      <p:sp>
        <p:nvSpPr>
          <p:cNvPr id="8" name="Text 5"/>
          <p:cNvSpPr txBox="1"/>
          <p:nvPr/>
        </p:nvSpPr>
        <p:spPr>
          <a:xfrm>
            <a:off x="777240" y="1783080"/>
            <a:ext cx="2011680" cy="676656"/>
          </a:xfrm>
          <a:prstGeom prst="rect">
            <a:avLst/>
          </a:prstGeom>
          <a:noFill/>
          <a:ln/>
        </p:spPr>
        <p:txBody>
          <a:bodyPr wrap="square" lIns="0" tIns="0" rIns="0" bIns="0" rtlCol="0" anchor="ctr"/>
          <a:lstStyle/>
          <a:p>
            <a:pPr indent="0" marL="0">
              <a:buNone/>
            </a:pPr>
            <a:r>
              <a:rPr lang="en-US" sz="1600" b="1" dirty="0">
                <a:solidFill>
                  <a:srgbClr val="17292C"/>
                </a:solidFill>
                <a:latin typeface="Calibri" pitchFamily="34" charset="0"/>
                <a:ea typeface="Calibri" pitchFamily="34" charset="-122"/>
                <a:cs typeface="Calibri" pitchFamily="34" charset="-120"/>
              </a:rPr>
              <a:t>Clay</a:t>
            </a:r>
            <a:endParaRPr lang="en-US" sz="1600" dirty="0"/>
          </a:p>
        </p:txBody>
      </p:sp>
      <p:sp>
        <p:nvSpPr>
          <p:cNvPr id="9" name="Text 6"/>
          <p:cNvSpPr txBox="1"/>
          <p:nvPr/>
        </p:nvSpPr>
        <p:spPr>
          <a:xfrm>
            <a:off x="2788920" y="1783080"/>
            <a:ext cx="3566160" cy="676656"/>
          </a:xfrm>
          <a:prstGeom prst="rect">
            <a:avLst/>
          </a:prstGeom>
          <a:noFill/>
          <a:ln/>
        </p:spPr>
        <p:txBody>
          <a:bodyPr wrap="square" lIns="0" tIns="0" rIns="0" bIns="0" rtlCol="0" anchor="ctr"/>
          <a:lstStyle/>
          <a:p>
            <a:pPr indent="0" marL="0">
              <a:buNone/>
            </a:pPr>
            <a:r>
              <a:rPr lang="en-US" sz="1400" dirty="0">
                <a:solidFill>
                  <a:srgbClr val="3F5558"/>
                </a:solidFill>
                <a:latin typeface="Calibri" pitchFamily="34" charset="0"/>
                <a:ea typeface="Calibri" pitchFamily="34" charset="-122"/>
                <a:cs typeface="Calibri" pitchFamily="34" charset="-120"/>
              </a:rPr>
              <a:t>Enrichment CRM terpadu dengan AI</a:t>
            </a:r>
            <a:endParaRPr lang="en-US" sz="1400" dirty="0"/>
          </a:p>
        </p:txBody>
      </p:sp>
      <p:sp>
        <p:nvSpPr>
          <p:cNvPr id="10" name="Shape 7"/>
          <p:cNvSpPr/>
          <p:nvPr/>
        </p:nvSpPr>
        <p:spPr>
          <a:xfrm>
            <a:off x="548640" y="2569464"/>
            <a:ext cx="5943600" cy="676656"/>
          </a:xfrm>
          <a:prstGeom prst="roundRect">
            <a:avLst>
              <a:gd name="adj" fmla="val 10811"/>
            </a:avLst>
          </a:prstGeom>
          <a:solidFill>
            <a:srgbClr val="EDF5F5"/>
          </a:solidFill>
          <a:ln w="12700">
            <a:solidFill>
              <a:srgbClr val="EDF5F5"/>
            </a:solidFill>
            <a:prstDash val="solid"/>
          </a:ln>
        </p:spPr>
      </p:sp>
      <p:sp>
        <p:nvSpPr>
          <p:cNvPr id="11" name="Text 8"/>
          <p:cNvSpPr txBox="1"/>
          <p:nvPr/>
        </p:nvSpPr>
        <p:spPr>
          <a:xfrm>
            <a:off x="777240" y="2569464"/>
            <a:ext cx="2011680" cy="676656"/>
          </a:xfrm>
          <a:prstGeom prst="rect">
            <a:avLst/>
          </a:prstGeom>
          <a:noFill/>
          <a:ln/>
        </p:spPr>
        <p:txBody>
          <a:bodyPr wrap="square" lIns="0" tIns="0" rIns="0" bIns="0" rtlCol="0" anchor="ctr"/>
          <a:lstStyle/>
          <a:p>
            <a:pPr indent="0" marL="0">
              <a:buNone/>
            </a:pPr>
            <a:r>
              <a:rPr lang="en-US" sz="1600" b="1" dirty="0">
                <a:solidFill>
                  <a:srgbClr val="17292C"/>
                </a:solidFill>
                <a:latin typeface="Calibri" pitchFamily="34" charset="0"/>
                <a:ea typeface="Calibri" pitchFamily="34" charset="-122"/>
                <a:cs typeface="Calibri" pitchFamily="34" charset="-120"/>
              </a:rPr>
              <a:t>Apollo</a:t>
            </a:r>
            <a:endParaRPr lang="en-US" sz="1600" dirty="0"/>
          </a:p>
        </p:txBody>
      </p:sp>
      <p:sp>
        <p:nvSpPr>
          <p:cNvPr id="12" name="Text 9"/>
          <p:cNvSpPr txBox="1"/>
          <p:nvPr/>
        </p:nvSpPr>
        <p:spPr>
          <a:xfrm>
            <a:off x="2788920" y="2569464"/>
            <a:ext cx="3566160" cy="676656"/>
          </a:xfrm>
          <a:prstGeom prst="rect">
            <a:avLst/>
          </a:prstGeom>
          <a:noFill/>
          <a:ln/>
        </p:spPr>
        <p:txBody>
          <a:bodyPr wrap="square" lIns="0" tIns="0" rIns="0" bIns="0" rtlCol="0" anchor="ctr"/>
          <a:lstStyle/>
          <a:p>
            <a:pPr indent="0" marL="0">
              <a:buNone/>
            </a:pPr>
            <a:r>
              <a:rPr lang="en-US" sz="1400" dirty="0">
                <a:solidFill>
                  <a:srgbClr val="3F5558"/>
                </a:solidFill>
                <a:latin typeface="Calibri" pitchFamily="34" charset="0"/>
                <a:ea typeface="Calibri" pitchFamily="34" charset="-122"/>
                <a:cs typeface="Calibri" pitchFamily="34" charset="-120"/>
              </a:rPr>
              <a:t>Waterfall enrichment, asisten tulis, sequence</a:t>
            </a:r>
            <a:endParaRPr lang="en-US" sz="1400" dirty="0"/>
          </a:p>
        </p:txBody>
      </p:sp>
      <p:sp>
        <p:nvSpPr>
          <p:cNvPr id="13" name="Shape 10"/>
          <p:cNvSpPr/>
          <p:nvPr/>
        </p:nvSpPr>
        <p:spPr>
          <a:xfrm>
            <a:off x="548640" y="3355848"/>
            <a:ext cx="5943600" cy="676656"/>
          </a:xfrm>
          <a:prstGeom prst="roundRect">
            <a:avLst>
              <a:gd name="adj" fmla="val 10811"/>
            </a:avLst>
          </a:prstGeom>
          <a:solidFill>
            <a:srgbClr val="EDF5F5"/>
          </a:solidFill>
          <a:ln w="12700">
            <a:solidFill>
              <a:srgbClr val="EDF5F5"/>
            </a:solidFill>
            <a:prstDash val="solid"/>
          </a:ln>
        </p:spPr>
      </p:sp>
      <p:sp>
        <p:nvSpPr>
          <p:cNvPr id="14" name="Text 11"/>
          <p:cNvSpPr txBox="1"/>
          <p:nvPr/>
        </p:nvSpPr>
        <p:spPr>
          <a:xfrm>
            <a:off x="777240" y="3355848"/>
            <a:ext cx="2011680" cy="676656"/>
          </a:xfrm>
          <a:prstGeom prst="rect">
            <a:avLst/>
          </a:prstGeom>
          <a:noFill/>
          <a:ln/>
        </p:spPr>
        <p:txBody>
          <a:bodyPr wrap="square" lIns="0" tIns="0" rIns="0" bIns="0" rtlCol="0" anchor="ctr"/>
          <a:lstStyle/>
          <a:p>
            <a:pPr indent="0" marL="0">
              <a:buNone/>
            </a:pPr>
            <a:r>
              <a:rPr lang="en-US" sz="1600" b="1" dirty="0">
                <a:solidFill>
                  <a:srgbClr val="17292C"/>
                </a:solidFill>
                <a:latin typeface="Calibri" pitchFamily="34" charset="0"/>
                <a:ea typeface="Calibri" pitchFamily="34" charset="-122"/>
                <a:cs typeface="Calibri" pitchFamily="34" charset="-120"/>
              </a:rPr>
              <a:t>HubSpot / Clearbit</a:t>
            </a:r>
            <a:endParaRPr lang="en-US" sz="1600" dirty="0"/>
          </a:p>
        </p:txBody>
      </p:sp>
      <p:sp>
        <p:nvSpPr>
          <p:cNvPr id="15" name="Text 12"/>
          <p:cNvSpPr txBox="1"/>
          <p:nvPr/>
        </p:nvSpPr>
        <p:spPr>
          <a:xfrm>
            <a:off x="2788920" y="3355848"/>
            <a:ext cx="3566160" cy="676656"/>
          </a:xfrm>
          <a:prstGeom prst="rect">
            <a:avLst/>
          </a:prstGeom>
          <a:noFill/>
          <a:ln/>
        </p:spPr>
        <p:txBody>
          <a:bodyPr wrap="square" lIns="0" tIns="0" rIns="0" bIns="0" rtlCol="0" anchor="ctr"/>
          <a:lstStyle/>
          <a:p>
            <a:pPr indent="0" marL="0">
              <a:buNone/>
            </a:pPr>
            <a:r>
              <a:rPr lang="en-US" sz="1400" dirty="0">
                <a:solidFill>
                  <a:srgbClr val="3F5558"/>
                </a:solidFill>
                <a:latin typeface="Calibri" pitchFamily="34" charset="0"/>
                <a:ea typeface="Calibri" pitchFamily="34" charset="-122"/>
                <a:cs typeface="Calibri" pitchFamily="34" charset="-120"/>
              </a:rPr>
              <a:t>Enrichment langsung di CRM</a:t>
            </a:r>
            <a:endParaRPr lang="en-US" sz="1400" dirty="0"/>
          </a:p>
        </p:txBody>
      </p:sp>
      <p:sp>
        <p:nvSpPr>
          <p:cNvPr id="16" name="Shape 13"/>
          <p:cNvSpPr/>
          <p:nvPr/>
        </p:nvSpPr>
        <p:spPr>
          <a:xfrm>
            <a:off x="548640" y="4142232"/>
            <a:ext cx="5943600" cy="676656"/>
          </a:xfrm>
          <a:prstGeom prst="roundRect">
            <a:avLst>
              <a:gd name="adj" fmla="val 10811"/>
            </a:avLst>
          </a:prstGeom>
          <a:solidFill>
            <a:srgbClr val="EDF5F5"/>
          </a:solidFill>
          <a:ln w="12700">
            <a:solidFill>
              <a:srgbClr val="EDF5F5"/>
            </a:solidFill>
            <a:prstDash val="solid"/>
          </a:ln>
        </p:spPr>
      </p:sp>
      <p:sp>
        <p:nvSpPr>
          <p:cNvPr id="17" name="Text 14"/>
          <p:cNvSpPr txBox="1"/>
          <p:nvPr/>
        </p:nvSpPr>
        <p:spPr>
          <a:xfrm>
            <a:off x="777240" y="4142232"/>
            <a:ext cx="2011680" cy="676656"/>
          </a:xfrm>
          <a:prstGeom prst="rect">
            <a:avLst/>
          </a:prstGeom>
          <a:noFill/>
          <a:ln/>
        </p:spPr>
        <p:txBody>
          <a:bodyPr wrap="square" lIns="0" tIns="0" rIns="0" bIns="0" rtlCol="0" anchor="ctr"/>
          <a:lstStyle/>
          <a:p>
            <a:pPr indent="0" marL="0">
              <a:buNone/>
            </a:pPr>
            <a:r>
              <a:rPr lang="en-US" sz="1600" b="1" dirty="0">
                <a:solidFill>
                  <a:srgbClr val="17292C"/>
                </a:solidFill>
                <a:latin typeface="Calibri" pitchFamily="34" charset="0"/>
                <a:ea typeface="Calibri" pitchFamily="34" charset="-122"/>
                <a:cs typeface="Calibri" pitchFamily="34" charset="-120"/>
              </a:rPr>
              <a:t>ZoomInfo</a:t>
            </a:r>
            <a:endParaRPr lang="en-US" sz="1600" dirty="0"/>
          </a:p>
        </p:txBody>
      </p:sp>
      <p:sp>
        <p:nvSpPr>
          <p:cNvPr id="18" name="Text 15"/>
          <p:cNvSpPr txBox="1"/>
          <p:nvPr/>
        </p:nvSpPr>
        <p:spPr>
          <a:xfrm>
            <a:off x="2788920" y="4142232"/>
            <a:ext cx="3566160" cy="676656"/>
          </a:xfrm>
          <a:prstGeom prst="rect">
            <a:avLst/>
          </a:prstGeom>
          <a:noFill/>
          <a:ln/>
        </p:spPr>
        <p:txBody>
          <a:bodyPr wrap="square" lIns="0" tIns="0" rIns="0" bIns="0" rtlCol="0" anchor="ctr"/>
          <a:lstStyle/>
          <a:p>
            <a:pPr indent="0" marL="0">
              <a:buNone/>
            </a:pPr>
            <a:r>
              <a:rPr lang="en-US" sz="1400" dirty="0">
                <a:solidFill>
                  <a:srgbClr val="3F5558"/>
                </a:solidFill>
                <a:latin typeface="Calibri" pitchFamily="34" charset="0"/>
                <a:ea typeface="Calibri" pitchFamily="34" charset="-122"/>
                <a:cs typeface="Calibri" pitchFamily="34" charset="-120"/>
              </a:rPr>
              <a:t>Data kontak dan perusahaan via API</a:t>
            </a:r>
            <a:endParaRPr lang="en-US" sz="1400" dirty="0"/>
          </a:p>
        </p:txBody>
      </p:sp>
      <p:sp>
        <p:nvSpPr>
          <p:cNvPr id="19" name="Text 16"/>
          <p:cNvSpPr txBox="1"/>
          <p:nvPr/>
        </p:nvSpPr>
        <p:spPr>
          <a:xfrm>
            <a:off x="548640" y="5029200"/>
            <a:ext cx="5943600" cy="365760"/>
          </a:xfrm>
          <a:prstGeom prst="rect">
            <a:avLst/>
          </a:prstGeom>
          <a:noFill/>
          <a:ln/>
        </p:spPr>
        <p:txBody>
          <a:bodyPr wrap="square" lIns="0" tIns="0" rIns="0" bIns="0" rtlCol="0" anchor="t"/>
          <a:lstStyle/>
          <a:p>
            <a:pPr indent="0" marL="0">
              <a:buNone/>
            </a:pPr>
            <a:r>
              <a:rPr lang="en-US" sz="1400" b="1" dirty="0">
                <a:solidFill>
                  <a:srgbClr val="2F7D84"/>
                </a:solidFill>
                <a:latin typeface="Calibri" pitchFamily="34" charset="0"/>
                <a:ea typeface="Calibri" pitchFamily="34" charset="-122"/>
                <a:cs typeface="Calibri" pitchFamily="34" charset="-120"/>
              </a:rPr>
              <a:t>Landasan penelitian</a:t>
            </a:r>
            <a:endParaRPr lang="en-US" sz="1400" dirty="0"/>
          </a:p>
        </p:txBody>
      </p:sp>
      <p:sp>
        <p:nvSpPr>
          <p:cNvPr id="20" name="Shape 17"/>
          <p:cNvSpPr/>
          <p:nvPr/>
        </p:nvSpPr>
        <p:spPr>
          <a:xfrm>
            <a:off x="548640" y="5440680"/>
            <a:ext cx="1005840" cy="420624"/>
          </a:xfrm>
          <a:prstGeom prst="roundRect">
            <a:avLst>
              <a:gd name="adj" fmla="val 43478"/>
            </a:avLst>
          </a:prstGeom>
          <a:solidFill>
            <a:srgbClr val="FFFFFF"/>
          </a:solidFill>
          <a:ln w="12700">
            <a:solidFill>
              <a:srgbClr val="BCD7D9"/>
            </a:solidFill>
            <a:prstDash val="solid"/>
          </a:ln>
        </p:spPr>
      </p:sp>
      <p:sp>
        <p:nvSpPr>
          <p:cNvPr id="21" name="Text 18"/>
          <p:cNvSpPr txBox="1"/>
          <p:nvPr/>
        </p:nvSpPr>
        <p:spPr>
          <a:xfrm>
            <a:off x="548640" y="5440680"/>
            <a:ext cx="1005840" cy="420624"/>
          </a:xfrm>
          <a:prstGeom prst="rect">
            <a:avLst/>
          </a:prstGeom>
          <a:noFill/>
          <a:ln/>
        </p:spPr>
        <p:txBody>
          <a:bodyPr wrap="square" lIns="0" tIns="0" rIns="0" bIns="0" rtlCol="0" anchor="ctr"/>
          <a:lstStyle/>
          <a:p>
            <a:pPr algn="ctr" indent="0" marL="0">
              <a:buNone/>
            </a:pPr>
            <a:r>
              <a:rPr lang="en-US" sz="1250" b="1" dirty="0">
                <a:solidFill>
                  <a:srgbClr val="154E54"/>
                </a:solidFill>
                <a:latin typeface="Calibri" pitchFamily="34" charset="0"/>
                <a:ea typeface="Calibri" pitchFamily="34" charset="-122"/>
                <a:cs typeface="Calibri" pitchFamily="34" charset="-120"/>
              </a:rPr>
              <a:t>AutoGen</a:t>
            </a:r>
            <a:endParaRPr lang="en-US" sz="1250" dirty="0"/>
          </a:p>
        </p:txBody>
      </p:sp>
      <p:sp>
        <p:nvSpPr>
          <p:cNvPr id="22" name="Shape 19"/>
          <p:cNvSpPr/>
          <p:nvPr/>
        </p:nvSpPr>
        <p:spPr>
          <a:xfrm>
            <a:off x="1664208" y="5440680"/>
            <a:ext cx="868680" cy="420624"/>
          </a:xfrm>
          <a:prstGeom prst="roundRect">
            <a:avLst>
              <a:gd name="adj" fmla="val 43478"/>
            </a:avLst>
          </a:prstGeom>
          <a:solidFill>
            <a:srgbClr val="FFFFFF"/>
          </a:solidFill>
          <a:ln w="12700">
            <a:solidFill>
              <a:srgbClr val="BCD7D9"/>
            </a:solidFill>
            <a:prstDash val="solid"/>
          </a:ln>
        </p:spPr>
      </p:sp>
      <p:sp>
        <p:nvSpPr>
          <p:cNvPr id="23" name="Text 20"/>
          <p:cNvSpPr txBox="1"/>
          <p:nvPr/>
        </p:nvSpPr>
        <p:spPr>
          <a:xfrm>
            <a:off x="1664208" y="5440680"/>
            <a:ext cx="868680" cy="420624"/>
          </a:xfrm>
          <a:prstGeom prst="rect">
            <a:avLst/>
          </a:prstGeom>
          <a:noFill/>
          <a:ln/>
        </p:spPr>
        <p:txBody>
          <a:bodyPr wrap="square" lIns="0" tIns="0" rIns="0" bIns="0" rtlCol="0" anchor="ctr"/>
          <a:lstStyle/>
          <a:p>
            <a:pPr algn="ctr" indent="0" marL="0">
              <a:buNone/>
            </a:pPr>
            <a:r>
              <a:rPr lang="en-US" sz="1250" b="1" dirty="0">
                <a:solidFill>
                  <a:srgbClr val="154E54"/>
                </a:solidFill>
                <a:latin typeface="Calibri" pitchFamily="34" charset="0"/>
                <a:ea typeface="Calibri" pitchFamily="34" charset="-122"/>
                <a:cs typeface="Calibri" pitchFamily="34" charset="-120"/>
              </a:rPr>
              <a:t>ReAct</a:t>
            </a:r>
            <a:endParaRPr lang="en-US" sz="1250" dirty="0"/>
          </a:p>
        </p:txBody>
      </p:sp>
      <p:sp>
        <p:nvSpPr>
          <p:cNvPr id="24" name="Shape 21"/>
          <p:cNvSpPr/>
          <p:nvPr/>
        </p:nvSpPr>
        <p:spPr>
          <a:xfrm>
            <a:off x="2642616" y="5440680"/>
            <a:ext cx="777240" cy="420624"/>
          </a:xfrm>
          <a:prstGeom prst="roundRect">
            <a:avLst>
              <a:gd name="adj" fmla="val 43478"/>
            </a:avLst>
          </a:prstGeom>
          <a:solidFill>
            <a:srgbClr val="FFFFFF"/>
          </a:solidFill>
          <a:ln w="12700">
            <a:solidFill>
              <a:srgbClr val="BCD7D9"/>
            </a:solidFill>
            <a:prstDash val="solid"/>
          </a:ln>
        </p:spPr>
      </p:sp>
      <p:sp>
        <p:nvSpPr>
          <p:cNvPr id="25" name="Text 22"/>
          <p:cNvSpPr txBox="1"/>
          <p:nvPr/>
        </p:nvSpPr>
        <p:spPr>
          <a:xfrm>
            <a:off x="2642616" y="5440680"/>
            <a:ext cx="777240" cy="420624"/>
          </a:xfrm>
          <a:prstGeom prst="rect">
            <a:avLst/>
          </a:prstGeom>
          <a:noFill/>
          <a:ln/>
        </p:spPr>
        <p:txBody>
          <a:bodyPr wrap="square" lIns="0" tIns="0" rIns="0" bIns="0" rtlCol="0" anchor="ctr"/>
          <a:lstStyle/>
          <a:p>
            <a:pPr algn="ctr" indent="0" marL="0">
              <a:buNone/>
            </a:pPr>
            <a:r>
              <a:rPr lang="en-US" sz="1250" b="1" dirty="0">
                <a:solidFill>
                  <a:srgbClr val="154E54"/>
                </a:solidFill>
                <a:latin typeface="Calibri" pitchFamily="34" charset="0"/>
                <a:ea typeface="Calibri" pitchFamily="34" charset="-122"/>
                <a:cs typeface="Calibri" pitchFamily="34" charset="-120"/>
              </a:rPr>
              <a:t>Ditto</a:t>
            </a:r>
            <a:endParaRPr lang="en-US" sz="1250" dirty="0"/>
          </a:p>
        </p:txBody>
      </p:sp>
      <p:sp>
        <p:nvSpPr>
          <p:cNvPr id="26" name="Shape 23"/>
          <p:cNvSpPr/>
          <p:nvPr/>
        </p:nvSpPr>
        <p:spPr>
          <a:xfrm>
            <a:off x="3529584" y="5440680"/>
            <a:ext cx="1600200" cy="420624"/>
          </a:xfrm>
          <a:prstGeom prst="roundRect">
            <a:avLst>
              <a:gd name="adj" fmla="val 43478"/>
            </a:avLst>
          </a:prstGeom>
          <a:solidFill>
            <a:srgbClr val="FFFFFF"/>
          </a:solidFill>
          <a:ln w="12700">
            <a:solidFill>
              <a:srgbClr val="BCD7D9"/>
            </a:solidFill>
            <a:prstDash val="solid"/>
          </a:ln>
        </p:spPr>
      </p:sp>
      <p:sp>
        <p:nvSpPr>
          <p:cNvPr id="27" name="Text 24"/>
          <p:cNvSpPr txBox="1"/>
          <p:nvPr/>
        </p:nvSpPr>
        <p:spPr>
          <a:xfrm>
            <a:off x="3529584" y="5440680"/>
            <a:ext cx="1600200" cy="420624"/>
          </a:xfrm>
          <a:prstGeom prst="rect">
            <a:avLst/>
          </a:prstGeom>
          <a:noFill/>
          <a:ln/>
        </p:spPr>
        <p:txBody>
          <a:bodyPr wrap="square" lIns="0" tIns="0" rIns="0" bIns="0" rtlCol="0" anchor="ctr"/>
          <a:lstStyle/>
          <a:p>
            <a:pPr algn="ctr" indent="0" marL="0">
              <a:buNone/>
            </a:pPr>
            <a:r>
              <a:rPr lang="en-US" sz="1250" b="1" dirty="0">
                <a:solidFill>
                  <a:srgbClr val="154E54"/>
                </a:solidFill>
                <a:latin typeface="Calibri" pitchFamily="34" charset="0"/>
                <a:ea typeface="Calibri" pitchFamily="34" charset="-122"/>
                <a:cs typeface="Calibri" pitchFamily="34" charset="-120"/>
              </a:rPr>
              <a:t>FIPA Contract Net</a:t>
            </a:r>
            <a:endParaRPr lang="en-US" sz="1250" dirty="0"/>
          </a:p>
        </p:txBody>
      </p:sp>
      <p:sp>
        <p:nvSpPr>
          <p:cNvPr id="28" name="Shape 25"/>
          <p:cNvSpPr/>
          <p:nvPr/>
        </p:nvSpPr>
        <p:spPr>
          <a:xfrm>
            <a:off x="5239512" y="5440680"/>
            <a:ext cx="1234440" cy="420624"/>
          </a:xfrm>
          <a:prstGeom prst="roundRect">
            <a:avLst>
              <a:gd name="adj" fmla="val 43478"/>
            </a:avLst>
          </a:prstGeom>
          <a:solidFill>
            <a:srgbClr val="FFFFFF"/>
          </a:solidFill>
          <a:ln w="12700">
            <a:solidFill>
              <a:srgbClr val="BCD7D9"/>
            </a:solidFill>
            <a:prstDash val="solid"/>
          </a:ln>
        </p:spPr>
      </p:sp>
      <p:sp>
        <p:nvSpPr>
          <p:cNvPr id="29" name="Text 26"/>
          <p:cNvSpPr txBox="1"/>
          <p:nvPr/>
        </p:nvSpPr>
        <p:spPr>
          <a:xfrm>
            <a:off x="5239512" y="5440680"/>
            <a:ext cx="1234440" cy="420624"/>
          </a:xfrm>
          <a:prstGeom prst="rect">
            <a:avLst/>
          </a:prstGeom>
          <a:noFill/>
          <a:ln/>
        </p:spPr>
        <p:txBody>
          <a:bodyPr wrap="square" lIns="0" tIns="0" rIns="0" bIns="0" rtlCol="0" anchor="ctr"/>
          <a:lstStyle/>
          <a:p>
            <a:pPr algn="ctr" indent="0" marL="0">
              <a:buNone/>
            </a:pPr>
            <a:r>
              <a:rPr lang="en-US" sz="1250" b="1" dirty="0">
                <a:solidFill>
                  <a:srgbClr val="154E54"/>
                </a:solidFill>
                <a:latin typeface="Calibri" pitchFamily="34" charset="0"/>
                <a:ea typeface="Calibri" pitchFamily="34" charset="-122"/>
                <a:cs typeface="Calibri" pitchFamily="34" charset="-120"/>
              </a:rPr>
              <a:t>Mobile code</a:t>
            </a:r>
            <a:endParaRPr lang="en-US" sz="1250" dirty="0"/>
          </a:p>
        </p:txBody>
      </p:sp>
      <p:sp>
        <p:nvSpPr>
          <p:cNvPr id="30" name="Shape 27"/>
          <p:cNvSpPr/>
          <p:nvPr/>
        </p:nvSpPr>
        <p:spPr>
          <a:xfrm>
            <a:off x="6903720" y="1371600"/>
            <a:ext cx="4736592" cy="4526280"/>
          </a:xfrm>
          <a:prstGeom prst="roundRect">
            <a:avLst>
              <a:gd name="adj" fmla="val 2020"/>
            </a:avLst>
          </a:prstGeom>
          <a:solidFill>
            <a:srgbClr val="154E54"/>
          </a:solidFill>
          <a:ln w="12700">
            <a:solidFill>
              <a:srgbClr val="154E54"/>
            </a:solidFill>
            <a:prstDash val="solid"/>
          </a:ln>
          <a:effectLst>
            <a:outerShdw sx="100000" sy="100000" kx="0" ky="0" algn="bl" rotWithShape="0" blurRad="127000" dist="38100" dir="5400000">
              <a:srgbClr val="0C3136">
                <a:alpha val="20000"/>
              </a:srgbClr>
            </a:outerShdw>
          </a:effectLst>
        </p:spPr>
      </p:sp>
      <p:sp>
        <p:nvSpPr>
          <p:cNvPr id="31" name="Shape 28"/>
          <p:cNvSpPr/>
          <p:nvPr/>
        </p:nvSpPr>
        <p:spPr>
          <a:xfrm>
            <a:off x="7223760" y="1691640"/>
            <a:ext cx="640080" cy="640080"/>
          </a:xfrm>
          <a:prstGeom prst="ellipse">
            <a:avLst/>
          </a:prstGeom>
          <a:solidFill>
            <a:srgbClr val="F2B544"/>
          </a:solidFill>
          <a:ln w="12700">
            <a:solidFill>
              <a:srgbClr val="F2B544"/>
            </a:solidFill>
            <a:prstDash val="solid"/>
          </a:ln>
        </p:spPr>
      </p:sp>
      <p:pic>
        <p:nvPicPr>
          <p:cNvPr id="32" name="Image 0" descr="preencoded.png">    </p:cNvPr>
          <p:cNvPicPr>
            <a:picLocks noChangeAspect="1"/>
          </p:cNvPicPr>
          <p:nvPr/>
        </p:nvPicPr>
        <p:blipFill>
          <a:blip r:embed="rId1"/>
          <a:stretch>
            <a:fillRect/>
          </a:stretch>
        </p:blipFill>
        <p:spPr>
          <a:xfrm>
            <a:off x="7377379" y="1845259"/>
            <a:ext cx="332842" cy="332842"/>
          </a:xfrm>
          <a:prstGeom prst="rect">
            <a:avLst/>
          </a:prstGeom>
        </p:spPr>
      </p:pic>
      <p:sp>
        <p:nvSpPr>
          <p:cNvPr id="33" name="Text 29"/>
          <p:cNvSpPr txBox="1"/>
          <p:nvPr/>
        </p:nvSpPr>
        <p:spPr>
          <a:xfrm>
            <a:off x="8046720" y="1691640"/>
            <a:ext cx="338328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Posisi kami</a:t>
            </a:r>
            <a:endParaRPr lang="en-US" sz="2400" dirty="0"/>
          </a:p>
        </p:txBody>
      </p:sp>
      <p:sp>
        <p:nvSpPr>
          <p:cNvPr id="34" name="Text 30"/>
          <p:cNvSpPr txBox="1"/>
          <p:nvPr/>
        </p:nvSpPr>
        <p:spPr>
          <a:xfrm>
            <a:off x="7269480" y="2606040"/>
            <a:ext cx="41605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Kontrak pesan dan approval dapat diinspeksi</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State di spreadsheet milik tim, satu penulis</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Eksperimen mobilitas agen dengan checkpoint</a:t>
            </a:r>
            <a:endParaRPr lang="en-US" sz="1800" dirty="0"/>
          </a:p>
          <a:p>
            <a:pPr marL="342900" indent="-342900">
              <a:spcAft>
                <a:spcPts val="1400"/>
              </a:spcAft>
              <a:buSzPct val="100000"/>
              <a:buChar char="•"/>
            </a:pPr>
            <a:r>
              <a:rPr lang="en-US" sz="1800" dirty="0">
                <a:solidFill>
                  <a:srgbClr val="FFFFFF"/>
                </a:solidFill>
                <a:latin typeface="Calibri" pitchFamily="34" charset="0"/>
                <a:ea typeface="Calibri" pitchFamily="34" charset="-122"/>
                <a:cs typeface="Calibri" pitchFamily="34" charset="-120"/>
              </a:rPr>
              <a:t>Tool terpisah: Apify, Firecrawl, OpenRouter, Gmail</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Arsitektur: kontrol terpusat, agen spesialis, kirim dibatasi approval</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5</a:t>
            </a:r>
            <a:endParaRPr lang="en-US" sz="1000" dirty="0"/>
          </a:p>
        </p:txBody>
      </p:sp>
      <p:sp>
        <p:nvSpPr>
          <p:cNvPr id="6" name="Shape 3"/>
          <p:cNvSpPr/>
          <p:nvPr/>
        </p:nvSpPr>
        <p:spPr>
          <a:xfrm>
            <a:off x="585216" y="1316736"/>
            <a:ext cx="5338104" cy="491032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7" name="Image 0" descr="C:\DATA\02 - Kuliah\Agen Cerdas Enterprise\presentasi\aset\diagram-arsitektur.png">    </p:cNvPr>
          <p:cNvPicPr>
            <a:picLocks noChangeAspect="1"/>
          </p:cNvPicPr>
          <p:nvPr/>
        </p:nvPicPr>
        <p:blipFill>
          <a:blip r:embed="rId1"/>
          <a:stretch>
            <a:fillRect/>
          </a:stretch>
        </p:blipFill>
        <p:spPr>
          <a:xfrm>
            <a:off x="640080" y="1371600"/>
            <a:ext cx="5228376" cy="4800600"/>
          </a:xfrm>
          <a:prstGeom prst="rect">
            <a:avLst/>
          </a:prstGeom>
        </p:spPr>
      </p:pic>
      <p:sp>
        <p:nvSpPr>
          <p:cNvPr id="8" name="Shape 4"/>
          <p:cNvSpPr/>
          <p:nvPr/>
        </p:nvSpPr>
        <p:spPr>
          <a:xfrm>
            <a:off x="6400800" y="1554480"/>
            <a:ext cx="384048" cy="384048"/>
          </a:xfrm>
          <a:prstGeom prst="ellipse">
            <a:avLst/>
          </a:prstGeom>
          <a:solidFill>
            <a:srgbClr val="F2B544"/>
          </a:solidFill>
          <a:ln w="12700">
            <a:solidFill>
              <a:srgbClr val="F2B544"/>
            </a:solidFill>
            <a:prstDash val="solid"/>
          </a:ln>
        </p:spPr>
      </p:sp>
      <p:sp>
        <p:nvSpPr>
          <p:cNvPr id="9" name="Text 5"/>
          <p:cNvSpPr txBox="1"/>
          <p:nvPr/>
        </p:nvSpPr>
        <p:spPr>
          <a:xfrm>
            <a:off x="6400800" y="155448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6949440" y="1517904"/>
            <a:ext cx="4663440" cy="13441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Pisahkan keputusan bahasa dari kontrol</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LLM menulis dan merangkum; antrean, jadwal, dan kirim ditangani layanan deterministik.</a:t>
            </a:r>
            <a:endParaRPr lang="en-US" sz="1500" dirty="0"/>
          </a:p>
        </p:txBody>
      </p:sp>
      <p:sp>
        <p:nvSpPr>
          <p:cNvPr id="11" name="Shape 7"/>
          <p:cNvSpPr/>
          <p:nvPr/>
        </p:nvSpPr>
        <p:spPr>
          <a:xfrm>
            <a:off x="6400800" y="2971800"/>
            <a:ext cx="384048" cy="384048"/>
          </a:xfrm>
          <a:prstGeom prst="ellipse">
            <a:avLst/>
          </a:prstGeom>
          <a:solidFill>
            <a:srgbClr val="F2B544"/>
          </a:solidFill>
          <a:ln w="12700">
            <a:solidFill>
              <a:srgbClr val="F2B544"/>
            </a:solidFill>
            <a:prstDash val="solid"/>
          </a:ln>
        </p:spPr>
      </p:sp>
      <p:sp>
        <p:nvSpPr>
          <p:cNvPr id="12" name="Text 8"/>
          <p:cNvSpPr txBox="1"/>
          <p:nvPr/>
        </p:nvSpPr>
        <p:spPr>
          <a:xfrm>
            <a:off x="6400800" y="297180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6949440" y="2935224"/>
            <a:ext cx="4663440" cy="13441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Satu lead, satu alur</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Validasi → enrichment → riset → tulis → periksa → approval → kirim; banyak lead berjalan paralel.</a:t>
            </a:r>
            <a:endParaRPr lang="en-US" sz="1500" dirty="0"/>
          </a:p>
        </p:txBody>
      </p:sp>
      <p:sp>
        <p:nvSpPr>
          <p:cNvPr id="14" name="Shape 10"/>
          <p:cNvSpPr/>
          <p:nvPr/>
        </p:nvSpPr>
        <p:spPr>
          <a:xfrm>
            <a:off x="6400800" y="4389120"/>
            <a:ext cx="384048" cy="384048"/>
          </a:xfrm>
          <a:prstGeom prst="ellipse">
            <a:avLst/>
          </a:prstGeom>
          <a:solidFill>
            <a:srgbClr val="F2B544"/>
          </a:solidFill>
          <a:ln w="12700">
            <a:solidFill>
              <a:srgbClr val="F2B544"/>
            </a:solidFill>
            <a:prstDash val="solid"/>
          </a:ln>
        </p:spPr>
      </p:sp>
      <p:sp>
        <p:nvSpPr>
          <p:cNvPr id="15" name="Text 11"/>
          <p:cNvSpPr txBox="1"/>
          <p:nvPr/>
        </p:nvSpPr>
        <p:spPr>
          <a:xfrm>
            <a:off x="6400800" y="438912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6949440" y="4352544"/>
            <a:ext cx="4663440" cy="13441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Satu penulis state</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Data Gateway menulis batch ke 8 tab Google Sheets; agen tidak menulis langsung.</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Lima agen dengan konteks sempit</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6</a:t>
            </a:r>
            <a:endParaRPr lang="en-US" sz="1000" dirty="0"/>
          </a:p>
        </p:txBody>
      </p:sp>
      <p:sp>
        <p:nvSpPr>
          <p:cNvPr id="6" name="Shape 3"/>
          <p:cNvSpPr/>
          <p:nvPr/>
        </p:nvSpPr>
        <p:spPr>
          <a:xfrm>
            <a:off x="548640" y="1417320"/>
            <a:ext cx="2103120" cy="4160520"/>
          </a:xfrm>
          <a:prstGeom prst="roundRect">
            <a:avLst>
              <a:gd name="adj" fmla="val 3478"/>
            </a:avLst>
          </a:prstGeom>
          <a:solidFill>
            <a:srgbClr val="EDF5F5"/>
          </a:solidFill>
          <a:ln w="12700">
            <a:solidFill>
              <a:srgbClr val="EDF5F5"/>
            </a:solidFill>
            <a:prstDash val="solid"/>
          </a:ln>
        </p:spPr>
      </p:sp>
      <p:sp>
        <p:nvSpPr>
          <p:cNvPr id="7" name="Shape 4"/>
          <p:cNvSpPr/>
          <p:nvPr/>
        </p:nvSpPr>
        <p:spPr>
          <a:xfrm>
            <a:off x="777240" y="1645920"/>
            <a:ext cx="658368" cy="658368"/>
          </a:xfrm>
          <a:prstGeom prst="ellipse">
            <a:avLst/>
          </a:prstGeom>
          <a:solidFill>
            <a:srgbClr val="154E54"/>
          </a:solidFill>
          <a:ln w="12700">
            <a:solidFill>
              <a:srgbClr val="154E54"/>
            </a:solidFill>
            <a:prstDash val="solid"/>
          </a:ln>
        </p:spPr>
      </p:sp>
      <p:pic>
        <p:nvPicPr>
          <p:cNvPr id="8" name="Image 0" descr="preencoded.png">    </p:cNvPr>
          <p:cNvPicPr>
            <a:picLocks noChangeAspect="1"/>
          </p:cNvPicPr>
          <p:nvPr/>
        </p:nvPicPr>
        <p:blipFill>
          <a:blip r:embed="rId1"/>
          <a:stretch>
            <a:fillRect/>
          </a:stretch>
        </p:blipFill>
        <p:spPr>
          <a:xfrm>
            <a:off x="935248" y="1803928"/>
            <a:ext cx="342351" cy="342351"/>
          </a:xfrm>
          <a:prstGeom prst="rect">
            <a:avLst/>
          </a:prstGeom>
        </p:spPr>
      </p:pic>
      <p:sp>
        <p:nvSpPr>
          <p:cNvPr id="9" name="Text 5"/>
          <p:cNvSpPr txBox="1"/>
          <p:nvPr/>
        </p:nvSpPr>
        <p:spPr>
          <a:xfrm>
            <a:off x="777240" y="2423160"/>
            <a:ext cx="1783080" cy="411480"/>
          </a:xfrm>
          <a:prstGeom prst="rect">
            <a:avLst/>
          </a:prstGeom>
          <a:noFill/>
          <a:ln/>
        </p:spPr>
        <p:txBody>
          <a:bodyPr wrap="square" lIns="0" tIns="0" rIns="0" bIns="0" rtlCol="0" anchor="t"/>
          <a:lstStyle/>
          <a:p>
            <a:pPr indent="0" marL="0">
              <a:buNone/>
            </a:pPr>
            <a:r>
              <a:rPr lang="en-US" sz="1800" b="1" dirty="0">
                <a:solidFill>
                  <a:srgbClr val="17292C"/>
                </a:solidFill>
                <a:latin typeface="Cambria" pitchFamily="34" charset="0"/>
                <a:ea typeface="Cambria" pitchFamily="34" charset="-122"/>
                <a:cs typeface="Cambria" pitchFamily="34" charset="-120"/>
              </a:rPr>
              <a:t>Orchestrator</a:t>
            </a:r>
            <a:endParaRPr lang="en-US" sz="1800" dirty="0"/>
          </a:p>
        </p:txBody>
      </p:sp>
      <p:sp>
        <p:nvSpPr>
          <p:cNvPr id="10" name="Text 6"/>
          <p:cNvSpPr txBox="1"/>
          <p:nvPr/>
        </p:nvSpPr>
        <p:spPr>
          <a:xfrm>
            <a:off x="777240" y="2816352"/>
            <a:ext cx="1783080" cy="320040"/>
          </a:xfrm>
          <a:prstGeom prst="rect">
            <a:avLst/>
          </a:prstGeom>
          <a:noFill/>
          <a:ln/>
        </p:spPr>
        <p:txBody>
          <a:bodyPr wrap="square" lIns="0" tIns="0" rIns="0" bIns="0" rtlCol="0" anchor="t"/>
          <a:lstStyle/>
          <a:p>
            <a:pPr indent="0" marL="0">
              <a:buNone/>
            </a:pPr>
            <a:r>
              <a:rPr lang="en-US" sz="1200" b="1" dirty="0">
                <a:solidFill>
                  <a:srgbClr val="2F7D84"/>
                </a:solidFill>
                <a:latin typeface="Calibri" pitchFamily="34" charset="0"/>
                <a:ea typeface="Calibri" pitchFamily="34" charset="-122"/>
                <a:cs typeface="Calibri" pitchFamily="34" charset="-120"/>
              </a:rPr>
              <a:t>Broker · statis</a:t>
            </a:r>
            <a:endParaRPr lang="en-US" sz="1200" dirty="0"/>
          </a:p>
        </p:txBody>
      </p:sp>
      <p:sp>
        <p:nvSpPr>
          <p:cNvPr id="11" name="Text 7"/>
          <p:cNvSpPr txBox="1"/>
          <p:nvPr/>
        </p:nvSpPr>
        <p:spPr>
          <a:xfrm>
            <a:off x="777240" y="3200400"/>
            <a:ext cx="1737360" cy="12344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Brief + state → rencana task dan alokasi runtime</a:t>
            </a:r>
            <a:endParaRPr lang="en-US" sz="1300" dirty="0"/>
          </a:p>
        </p:txBody>
      </p:sp>
      <p:sp>
        <p:nvSpPr>
          <p:cNvPr id="12" name="Shape 8"/>
          <p:cNvSpPr/>
          <p:nvPr/>
        </p:nvSpPr>
        <p:spPr>
          <a:xfrm>
            <a:off x="777240" y="4526280"/>
            <a:ext cx="1645920" cy="0"/>
          </a:xfrm>
          <a:prstGeom prst="line">
            <a:avLst/>
          </a:prstGeom>
          <a:noFill/>
          <a:ln w="12700">
            <a:solidFill>
              <a:srgbClr val="BCD7D9"/>
            </a:solidFill>
            <a:prstDash val="solid"/>
          </a:ln>
        </p:spPr>
      </p:sp>
      <p:sp>
        <p:nvSpPr>
          <p:cNvPr id="13" name="Text 9"/>
          <p:cNvSpPr txBox="1"/>
          <p:nvPr/>
        </p:nvSpPr>
        <p:spPr>
          <a:xfrm>
            <a:off x="777240" y="4617720"/>
            <a:ext cx="1737360" cy="822960"/>
          </a:xfrm>
          <a:prstGeom prst="rect">
            <a:avLst/>
          </a:prstGeom>
          <a:noFill/>
          <a:ln/>
        </p:spPr>
        <p:txBody>
          <a:bodyPr wrap="square" lIns="0" tIns="0" rIns="0" bIns="0" rtlCol="0" anchor="t"/>
          <a:lstStyle/>
          <a:p>
            <a:pPr indent="0" marL="0">
              <a:buNone/>
            </a:pPr>
            <a:r>
              <a:rPr lang="en-US" sz="1200" i="1" dirty="0">
                <a:solidFill>
                  <a:srgbClr val="5F7477"/>
                </a:solidFill>
                <a:latin typeface="Calibri" pitchFamily="34" charset="0"/>
                <a:ea typeface="Calibri" pitchFamily="34" charset="-122"/>
                <a:cs typeface="Calibri" pitchFamily="34" charset="-120"/>
              </a:rPr>
              <a:t>State machine, batas biaya, pemulihan</a:t>
            </a:r>
            <a:endParaRPr lang="en-US" sz="1200" dirty="0"/>
          </a:p>
        </p:txBody>
      </p:sp>
      <p:sp>
        <p:nvSpPr>
          <p:cNvPr id="14" name="Shape 10"/>
          <p:cNvSpPr/>
          <p:nvPr/>
        </p:nvSpPr>
        <p:spPr>
          <a:xfrm>
            <a:off x="2798064" y="1417320"/>
            <a:ext cx="2103120" cy="4160520"/>
          </a:xfrm>
          <a:prstGeom prst="roundRect">
            <a:avLst>
              <a:gd name="adj" fmla="val 3478"/>
            </a:avLst>
          </a:prstGeom>
          <a:solidFill>
            <a:srgbClr val="EDF5F5"/>
          </a:solidFill>
          <a:ln w="12700">
            <a:solidFill>
              <a:srgbClr val="EDF5F5"/>
            </a:solidFill>
            <a:prstDash val="solid"/>
          </a:ln>
        </p:spPr>
      </p:sp>
      <p:sp>
        <p:nvSpPr>
          <p:cNvPr id="15" name="Shape 11"/>
          <p:cNvSpPr/>
          <p:nvPr/>
        </p:nvSpPr>
        <p:spPr>
          <a:xfrm>
            <a:off x="3026664" y="1645920"/>
            <a:ext cx="658368" cy="658368"/>
          </a:xfrm>
          <a:prstGeom prst="ellipse">
            <a:avLst/>
          </a:prstGeom>
          <a:solidFill>
            <a:srgbClr val="154E54"/>
          </a:solidFill>
          <a:ln w="12700">
            <a:solidFill>
              <a:srgbClr val="154E54"/>
            </a:solidFill>
            <a:prstDash val="solid"/>
          </a:ln>
        </p:spPr>
      </p:sp>
      <p:pic>
        <p:nvPicPr>
          <p:cNvPr id="16" name="Image 1" descr="preencoded.png">    </p:cNvPr>
          <p:cNvPicPr>
            <a:picLocks noChangeAspect="1"/>
          </p:cNvPicPr>
          <p:nvPr/>
        </p:nvPicPr>
        <p:blipFill>
          <a:blip r:embed="rId2"/>
          <a:stretch>
            <a:fillRect/>
          </a:stretch>
        </p:blipFill>
        <p:spPr>
          <a:xfrm>
            <a:off x="3184672" y="1803928"/>
            <a:ext cx="342351" cy="342351"/>
          </a:xfrm>
          <a:prstGeom prst="rect">
            <a:avLst/>
          </a:prstGeom>
        </p:spPr>
      </p:pic>
      <p:sp>
        <p:nvSpPr>
          <p:cNvPr id="17" name="Text 12"/>
          <p:cNvSpPr txBox="1"/>
          <p:nvPr/>
        </p:nvSpPr>
        <p:spPr>
          <a:xfrm>
            <a:off x="3026664" y="2423160"/>
            <a:ext cx="1783080" cy="411480"/>
          </a:xfrm>
          <a:prstGeom prst="rect">
            <a:avLst/>
          </a:prstGeom>
          <a:noFill/>
          <a:ln/>
        </p:spPr>
        <p:txBody>
          <a:bodyPr wrap="square" lIns="0" tIns="0" rIns="0" bIns="0" rtlCol="0" anchor="t"/>
          <a:lstStyle/>
          <a:p>
            <a:pPr indent="0" marL="0">
              <a:buNone/>
            </a:pPr>
            <a:r>
              <a:rPr lang="en-US" sz="1800" b="1" dirty="0">
                <a:solidFill>
                  <a:srgbClr val="17292C"/>
                </a:solidFill>
                <a:latin typeface="Cambria" pitchFamily="34" charset="0"/>
                <a:ea typeface="Cambria" pitchFamily="34" charset="-122"/>
                <a:cs typeface="Cambria" pitchFamily="34" charset="-120"/>
              </a:rPr>
              <a:t>Enrichment</a:t>
            </a:r>
            <a:endParaRPr lang="en-US" sz="1800" dirty="0"/>
          </a:p>
        </p:txBody>
      </p:sp>
      <p:sp>
        <p:nvSpPr>
          <p:cNvPr id="18" name="Text 13"/>
          <p:cNvSpPr txBox="1"/>
          <p:nvPr/>
        </p:nvSpPr>
        <p:spPr>
          <a:xfrm>
            <a:off x="3026664" y="2816352"/>
            <a:ext cx="1783080" cy="320040"/>
          </a:xfrm>
          <a:prstGeom prst="rect">
            <a:avLst/>
          </a:prstGeom>
          <a:noFill/>
          <a:ln/>
        </p:spPr>
        <p:txBody>
          <a:bodyPr wrap="square" lIns="0" tIns="0" rIns="0" bIns="0" rtlCol="0" anchor="t"/>
          <a:lstStyle/>
          <a:p>
            <a:pPr indent="0" marL="0">
              <a:buNone/>
            </a:pPr>
            <a:r>
              <a:rPr lang="en-US" sz="1200" b="1" dirty="0">
                <a:solidFill>
                  <a:srgbClr val="2F7D84"/>
                </a:solidFill>
                <a:latin typeface="Calibri" pitchFamily="34" charset="0"/>
                <a:ea typeface="Calibri" pitchFamily="34" charset="-122"/>
                <a:cs typeface="Calibri" pitchFamily="34" charset="-120"/>
              </a:rPr>
              <a:t>Worker · mobile</a:t>
            </a:r>
            <a:endParaRPr lang="en-US" sz="1200" dirty="0"/>
          </a:p>
        </p:txBody>
      </p:sp>
      <p:sp>
        <p:nvSpPr>
          <p:cNvPr id="19" name="Text 14"/>
          <p:cNvSpPr txBox="1"/>
          <p:nvPr/>
        </p:nvSpPr>
        <p:spPr>
          <a:xfrm>
            <a:off x="3026664" y="3200400"/>
            <a:ext cx="1737360" cy="12344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Nama + petunjuk → kandidat, skor S, fakta profil</a:t>
            </a:r>
            <a:endParaRPr lang="en-US" sz="1300" dirty="0"/>
          </a:p>
        </p:txBody>
      </p:sp>
      <p:sp>
        <p:nvSpPr>
          <p:cNvPr id="20" name="Shape 15"/>
          <p:cNvSpPr/>
          <p:nvPr/>
        </p:nvSpPr>
        <p:spPr>
          <a:xfrm>
            <a:off x="3026664" y="4526280"/>
            <a:ext cx="1645920" cy="0"/>
          </a:xfrm>
          <a:prstGeom prst="line">
            <a:avLst/>
          </a:prstGeom>
          <a:noFill/>
          <a:ln w="12700">
            <a:solidFill>
              <a:srgbClr val="BCD7D9"/>
            </a:solidFill>
            <a:prstDash val="solid"/>
          </a:ln>
        </p:spPr>
      </p:sp>
      <p:sp>
        <p:nvSpPr>
          <p:cNvPr id="21" name="Text 16"/>
          <p:cNvSpPr txBox="1"/>
          <p:nvPr/>
        </p:nvSpPr>
        <p:spPr>
          <a:xfrm>
            <a:off x="3026664" y="4617720"/>
            <a:ext cx="1737360" cy="822960"/>
          </a:xfrm>
          <a:prstGeom prst="rect">
            <a:avLst/>
          </a:prstGeom>
          <a:noFill/>
          <a:ln/>
        </p:spPr>
        <p:txBody>
          <a:bodyPr wrap="square" lIns="0" tIns="0" rIns="0" bIns="0" rtlCol="0" anchor="t"/>
          <a:lstStyle/>
          <a:p>
            <a:pPr indent="0" marL="0">
              <a:buNone/>
            </a:pPr>
            <a:r>
              <a:rPr lang="en-US" sz="1200" i="1" dirty="0">
                <a:solidFill>
                  <a:srgbClr val="5F7477"/>
                </a:solidFill>
                <a:latin typeface="Calibri" pitchFamily="34" charset="0"/>
                <a:ea typeface="Calibri" pitchFamily="34" charset="-122"/>
                <a:cs typeface="Calibri" pitchFamily="34" charset="-120"/>
              </a:rPr>
              <a:t>Nama ambigu masuk review</a:t>
            </a:r>
            <a:endParaRPr lang="en-US" sz="1200" dirty="0"/>
          </a:p>
        </p:txBody>
      </p:sp>
      <p:sp>
        <p:nvSpPr>
          <p:cNvPr id="22" name="Shape 17"/>
          <p:cNvSpPr/>
          <p:nvPr/>
        </p:nvSpPr>
        <p:spPr>
          <a:xfrm>
            <a:off x="5047488" y="1417320"/>
            <a:ext cx="2103120" cy="4160520"/>
          </a:xfrm>
          <a:prstGeom prst="roundRect">
            <a:avLst>
              <a:gd name="adj" fmla="val 3478"/>
            </a:avLst>
          </a:prstGeom>
          <a:solidFill>
            <a:srgbClr val="EDF5F5"/>
          </a:solidFill>
          <a:ln w="12700">
            <a:solidFill>
              <a:srgbClr val="EDF5F5"/>
            </a:solidFill>
            <a:prstDash val="solid"/>
          </a:ln>
        </p:spPr>
      </p:sp>
      <p:sp>
        <p:nvSpPr>
          <p:cNvPr id="23" name="Shape 18"/>
          <p:cNvSpPr/>
          <p:nvPr/>
        </p:nvSpPr>
        <p:spPr>
          <a:xfrm>
            <a:off x="5276088" y="1645920"/>
            <a:ext cx="658368" cy="658368"/>
          </a:xfrm>
          <a:prstGeom prst="ellipse">
            <a:avLst/>
          </a:prstGeom>
          <a:solidFill>
            <a:srgbClr val="154E54"/>
          </a:solidFill>
          <a:ln w="12700">
            <a:solidFill>
              <a:srgbClr val="154E54"/>
            </a:solidFill>
            <a:prstDash val="solid"/>
          </a:ln>
        </p:spPr>
      </p:sp>
      <p:pic>
        <p:nvPicPr>
          <p:cNvPr id="24" name="Image 2" descr="preencoded.png">    </p:cNvPr>
          <p:cNvPicPr>
            <a:picLocks noChangeAspect="1"/>
          </p:cNvPicPr>
          <p:nvPr/>
        </p:nvPicPr>
        <p:blipFill>
          <a:blip r:embed="rId3"/>
          <a:stretch>
            <a:fillRect/>
          </a:stretch>
        </p:blipFill>
        <p:spPr>
          <a:xfrm>
            <a:off x="5434096" y="1803928"/>
            <a:ext cx="342351" cy="342351"/>
          </a:xfrm>
          <a:prstGeom prst="rect">
            <a:avLst/>
          </a:prstGeom>
        </p:spPr>
      </p:pic>
      <p:sp>
        <p:nvSpPr>
          <p:cNvPr id="25" name="Text 19"/>
          <p:cNvSpPr txBox="1"/>
          <p:nvPr/>
        </p:nvSpPr>
        <p:spPr>
          <a:xfrm>
            <a:off x="5276088" y="2423160"/>
            <a:ext cx="1783080" cy="411480"/>
          </a:xfrm>
          <a:prstGeom prst="rect">
            <a:avLst/>
          </a:prstGeom>
          <a:noFill/>
          <a:ln/>
        </p:spPr>
        <p:txBody>
          <a:bodyPr wrap="square" lIns="0" tIns="0" rIns="0" bIns="0" rtlCol="0" anchor="t"/>
          <a:lstStyle/>
          <a:p>
            <a:pPr indent="0" marL="0">
              <a:buNone/>
            </a:pPr>
            <a:r>
              <a:rPr lang="en-US" sz="1800" b="1" dirty="0">
                <a:solidFill>
                  <a:srgbClr val="17292C"/>
                </a:solidFill>
                <a:latin typeface="Cambria" pitchFamily="34" charset="0"/>
                <a:ea typeface="Cambria" pitchFamily="34" charset="-122"/>
                <a:cs typeface="Cambria" pitchFamily="34" charset="-120"/>
              </a:rPr>
              <a:t>Research</a:t>
            </a:r>
            <a:endParaRPr lang="en-US" sz="1800" dirty="0"/>
          </a:p>
        </p:txBody>
      </p:sp>
      <p:sp>
        <p:nvSpPr>
          <p:cNvPr id="26" name="Text 20"/>
          <p:cNvSpPr txBox="1"/>
          <p:nvPr/>
        </p:nvSpPr>
        <p:spPr>
          <a:xfrm>
            <a:off x="5276088" y="2816352"/>
            <a:ext cx="1783080" cy="320040"/>
          </a:xfrm>
          <a:prstGeom prst="rect">
            <a:avLst/>
          </a:prstGeom>
          <a:noFill/>
          <a:ln/>
        </p:spPr>
        <p:txBody>
          <a:bodyPr wrap="square" lIns="0" tIns="0" rIns="0" bIns="0" rtlCol="0" anchor="t"/>
          <a:lstStyle/>
          <a:p>
            <a:pPr indent="0" marL="0">
              <a:buNone/>
            </a:pPr>
            <a:r>
              <a:rPr lang="en-US" sz="1200" b="1" dirty="0">
                <a:solidFill>
                  <a:srgbClr val="2F7D84"/>
                </a:solidFill>
                <a:latin typeface="Calibri" pitchFamily="34" charset="0"/>
                <a:ea typeface="Calibri" pitchFamily="34" charset="-122"/>
                <a:cs typeface="Calibri" pitchFamily="34" charset="-120"/>
              </a:rPr>
              <a:t>Scout · mobile</a:t>
            </a:r>
            <a:endParaRPr lang="en-US" sz="1200" dirty="0"/>
          </a:p>
        </p:txBody>
      </p:sp>
      <p:sp>
        <p:nvSpPr>
          <p:cNvPr id="27" name="Text 21"/>
          <p:cNvSpPr txBox="1"/>
          <p:nvPr/>
        </p:nvSpPr>
        <p:spPr>
          <a:xfrm>
            <a:off x="5276088" y="3200400"/>
            <a:ext cx="1737360" cy="12344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Identitas → maks. 3 fakta web bersumber</a:t>
            </a:r>
            <a:endParaRPr lang="en-US" sz="1300" dirty="0"/>
          </a:p>
        </p:txBody>
      </p:sp>
      <p:sp>
        <p:nvSpPr>
          <p:cNvPr id="28" name="Shape 22"/>
          <p:cNvSpPr/>
          <p:nvPr/>
        </p:nvSpPr>
        <p:spPr>
          <a:xfrm>
            <a:off x="5276088" y="4526280"/>
            <a:ext cx="1645920" cy="0"/>
          </a:xfrm>
          <a:prstGeom prst="line">
            <a:avLst/>
          </a:prstGeom>
          <a:noFill/>
          <a:ln w="12700">
            <a:solidFill>
              <a:srgbClr val="BCD7D9"/>
            </a:solidFill>
            <a:prstDash val="solid"/>
          </a:ln>
        </p:spPr>
      </p:sp>
      <p:sp>
        <p:nvSpPr>
          <p:cNvPr id="29" name="Text 23"/>
          <p:cNvSpPr txBox="1"/>
          <p:nvPr/>
        </p:nvSpPr>
        <p:spPr>
          <a:xfrm>
            <a:off x="5276088" y="4617720"/>
            <a:ext cx="1737360" cy="822960"/>
          </a:xfrm>
          <a:prstGeom prst="rect">
            <a:avLst/>
          </a:prstGeom>
          <a:noFill/>
          <a:ln/>
        </p:spPr>
        <p:txBody>
          <a:bodyPr wrap="square" lIns="0" tIns="0" rIns="0" bIns="0" rtlCol="0" anchor="t"/>
          <a:lstStyle/>
          <a:p>
            <a:pPr indent="0" marL="0">
              <a:buNone/>
            </a:pPr>
            <a:r>
              <a:rPr lang="en-US" sz="1200" i="1" dirty="0">
                <a:solidFill>
                  <a:srgbClr val="5F7477"/>
                </a:solidFill>
                <a:latin typeface="Calibri" pitchFamily="34" charset="0"/>
                <a:ea typeface="Calibri" pitchFamily="34" charset="-122"/>
                <a:cs typeface="Calibri" pitchFamily="34" charset="-120"/>
              </a:rPr>
              <a:t>Kutipan harus ada di sumber</a:t>
            </a:r>
            <a:endParaRPr lang="en-US" sz="1200" dirty="0"/>
          </a:p>
        </p:txBody>
      </p:sp>
      <p:sp>
        <p:nvSpPr>
          <p:cNvPr id="30" name="Shape 24"/>
          <p:cNvSpPr/>
          <p:nvPr/>
        </p:nvSpPr>
        <p:spPr>
          <a:xfrm>
            <a:off x="7296912" y="1417320"/>
            <a:ext cx="2103120" cy="4160520"/>
          </a:xfrm>
          <a:prstGeom prst="roundRect">
            <a:avLst>
              <a:gd name="adj" fmla="val 3478"/>
            </a:avLst>
          </a:prstGeom>
          <a:solidFill>
            <a:srgbClr val="EDF5F5"/>
          </a:solidFill>
          <a:ln w="12700">
            <a:solidFill>
              <a:srgbClr val="EDF5F5"/>
            </a:solidFill>
            <a:prstDash val="solid"/>
          </a:ln>
        </p:spPr>
      </p:sp>
      <p:sp>
        <p:nvSpPr>
          <p:cNvPr id="31" name="Shape 25"/>
          <p:cNvSpPr/>
          <p:nvPr/>
        </p:nvSpPr>
        <p:spPr>
          <a:xfrm>
            <a:off x="7525512" y="1645920"/>
            <a:ext cx="658368" cy="658368"/>
          </a:xfrm>
          <a:prstGeom prst="ellipse">
            <a:avLst/>
          </a:prstGeom>
          <a:solidFill>
            <a:srgbClr val="154E54"/>
          </a:solidFill>
          <a:ln w="12700">
            <a:solidFill>
              <a:srgbClr val="154E54"/>
            </a:solidFill>
            <a:prstDash val="solid"/>
          </a:ln>
        </p:spPr>
      </p:sp>
      <p:pic>
        <p:nvPicPr>
          <p:cNvPr id="32" name="Image 3" descr="preencoded.png">    </p:cNvPr>
          <p:cNvPicPr>
            <a:picLocks noChangeAspect="1"/>
          </p:cNvPicPr>
          <p:nvPr/>
        </p:nvPicPr>
        <p:blipFill>
          <a:blip r:embed="rId4"/>
          <a:stretch>
            <a:fillRect/>
          </a:stretch>
        </p:blipFill>
        <p:spPr>
          <a:xfrm>
            <a:off x="7683520" y="1803928"/>
            <a:ext cx="342351" cy="342351"/>
          </a:xfrm>
          <a:prstGeom prst="rect">
            <a:avLst/>
          </a:prstGeom>
        </p:spPr>
      </p:pic>
      <p:sp>
        <p:nvSpPr>
          <p:cNvPr id="33" name="Text 26"/>
          <p:cNvSpPr txBox="1"/>
          <p:nvPr/>
        </p:nvSpPr>
        <p:spPr>
          <a:xfrm>
            <a:off x="7525512" y="2423160"/>
            <a:ext cx="1783080" cy="411480"/>
          </a:xfrm>
          <a:prstGeom prst="rect">
            <a:avLst/>
          </a:prstGeom>
          <a:noFill/>
          <a:ln/>
        </p:spPr>
        <p:txBody>
          <a:bodyPr wrap="square" lIns="0" tIns="0" rIns="0" bIns="0" rtlCol="0" anchor="t"/>
          <a:lstStyle/>
          <a:p>
            <a:pPr indent="0" marL="0">
              <a:buNone/>
            </a:pPr>
            <a:r>
              <a:rPr lang="en-US" sz="1800" b="1" dirty="0">
                <a:solidFill>
                  <a:srgbClr val="17292C"/>
                </a:solidFill>
                <a:latin typeface="Cambria" pitchFamily="34" charset="0"/>
                <a:ea typeface="Cambria" pitchFamily="34" charset="-122"/>
                <a:cs typeface="Cambria" pitchFamily="34" charset="-120"/>
              </a:rPr>
              <a:t>Email Writer</a:t>
            </a:r>
            <a:endParaRPr lang="en-US" sz="1800" dirty="0"/>
          </a:p>
        </p:txBody>
      </p:sp>
      <p:sp>
        <p:nvSpPr>
          <p:cNvPr id="34" name="Text 27"/>
          <p:cNvSpPr txBox="1"/>
          <p:nvPr/>
        </p:nvSpPr>
        <p:spPr>
          <a:xfrm>
            <a:off x="7525512" y="2816352"/>
            <a:ext cx="1783080" cy="320040"/>
          </a:xfrm>
          <a:prstGeom prst="rect">
            <a:avLst/>
          </a:prstGeom>
          <a:noFill/>
          <a:ln/>
        </p:spPr>
        <p:txBody>
          <a:bodyPr wrap="square" lIns="0" tIns="0" rIns="0" bIns="0" rtlCol="0" anchor="t"/>
          <a:lstStyle/>
          <a:p>
            <a:pPr indent="0" marL="0">
              <a:buNone/>
            </a:pPr>
            <a:r>
              <a:rPr lang="en-US" sz="1200" b="1" dirty="0">
                <a:solidFill>
                  <a:srgbClr val="2F7D84"/>
                </a:solidFill>
                <a:latin typeface="Calibri" pitchFamily="34" charset="0"/>
                <a:ea typeface="Calibri" pitchFamily="34" charset="-122"/>
                <a:cs typeface="Calibri" pitchFamily="34" charset="-120"/>
              </a:rPr>
              <a:t>Worker · statis</a:t>
            </a:r>
            <a:endParaRPr lang="en-US" sz="1200" dirty="0"/>
          </a:p>
        </p:txBody>
      </p:sp>
      <p:sp>
        <p:nvSpPr>
          <p:cNvPr id="35" name="Text 28"/>
          <p:cNvSpPr txBox="1"/>
          <p:nvPr/>
        </p:nvSpPr>
        <p:spPr>
          <a:xfrm>
            <a:off x="7525512" y="3200400"/>
            <a:ext cx="1737360" cy="12344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Brief + fakta → subjek, isi, fact_id</a:t>
            </a:r>
            <a:endParaRPr lang="en-US" sz="1300" dirty="0"/>
          </a:p>
        </p:txBody>
      </p:sp>
      <p:sp>
        <p:nvSpPr>
          <p:cNvPr id="36" name="Shape 29"/>
          <p:cNvSpPr/>
          <p:nvPr/>
        </p:nvSpPr>
        <p:spPr>
          <a:xfrm>
            <a:off x="7525512" y="4526280"/>
            <a:ext cx="1645920" cy="0"/>
          </a:xfrm>
          <a:prstGeom prst="line">
            <a:avLst/>
          </a:prstGeom>
          <a:noFill/>
          <a:ln w="12700">
            <a:solidFill>
              <a:srgbClr val="BCD7D9"/>
            </a:solidFill>
            <a:prstDash val="solid"/>
          </a:ln>
        </p:spPr>
      </p:sp>
      <p:sp>
        <p:nvSpPr>
          <p:cNvPr id="37" name="Text 30"/>
          <p:cNvSpPr txBox="1"/>
          <p:nvPr/>
        </p:nvSpPr>
        <p:spPr>
          <a:xfrm>
            <a:off x="7525512" y="4617720"/>
            <a:ext cx="1737360" cy="822960"/>
          </a:xfrm>
          <a:prstGeom prst="rect">
            <a:avLst/>
          </a:prstGeom>
          <a:noFill/>
          <a:ln/>
        </p:spPr>
        <p:txBody>
          <a:bodyPr wrap="square" lIns="0" tIns="0" rIns="0" bIns="0" rtlCol="0" anchor="t"/>
          <a:lstStyle/>
          <a:p>
            <a:pPr indent="0" marL="0">
              <a:buNone/>
            </a:pPr>
            <a:r>
              <a:rPr lang="en-US" sz="1200" i="1" dirty="0">
                <a:solidFill>
                  <a:srgbClr val="5F7477"/>
                </a:solidFill>
                <a:latin typeface="Calibri" pitchFamily="34" charset="0"/>
                <a:ea typeface="Calibri" pitchFamily="34" charset="-122"/>
                <a:cs typeface="Calibri" pitchFamily="34" charset="-120"/>
              </a:rPr>
              <a:t>Maks. 2 revisi; tanpa izin kirim</a:t>
            </a:r>
            <a:endParaRPr lang="en-US" sz="1200" dirty="0"/>
          </a:p>
        </p:txBody>
      </p:sp>
      <p:sp>
        <p:nvSpPr>
          <p:cNvPr id="38" name="Shape 31"/>
          <p:cNvSpPr/>
          <p:nvPr/>
        </p:nvSpPr>
        <p:spPr>
          <a:xfrm>
            <a:off x="9546336" y="1417320"/>
            <a:ext cx="2103120" cy="4160520"/>
          </a:xfrm>
          <a:prstGeom prst="roundRect">
            <a:avLst>
              <a:gd name="adj" fmla="val 3478"/>
            </a:avLst>
          </a:prstGeom>
          <a:solidFill>
            <a:srgbClr val="EDF5F5"/>
          </a:solidFill>
          <a:ln w="12700">
            <a:solidFill>
              <a:srgbClr val="EDF5F5"/>
            </a:solidFill>
            <a:prstDash val="solid"/>
          </a:ln>
        </p:spPr>
      </p:sp>
      <p:sp>
        <p:nvSpPr>
          <p:cNvPr id="39" name="Shape 32"/>
          <p:cNvSpPr/>
          <p:nvPr/>
        </p:nvSpPr>
        <p:spPr>
          <a:xfrm>
            <a:off x="9774936" y="1645920"/>
            <a:ext cx="658368" cy="658368"/>
          </a:xfrm>
          <a:prstGeom prst="ellipse">
            <a:avLst/>
          </a:prstGeom>
          <a:solidFill>
            <a:srgbClr val="154E54"/>
          </a:solidFill>
          <a:ln w="12700">
            <a:solidFill>
              <a:srgbClr val="154E54"/>
            </a:solidFill>
            <a:prstDash val="solid"/>
          </a:ln>
        </p:spPr>
      </p:sp>
      <p:pic>
        <p:nvPicPr>
          <p:cNvPr id="40" name="Image 4" descr="preencoded.png">    </p:cNvPr>
          <p:cNvPicPr>
            <a:picLocks noChangeAspect="1"/>
          </p:cNvPicPr>
          <p:nvPr/>
        </p:nvPicPr>
        <p:blipFill>
          <a:blip r:embed="rId5"/>
          <a:stretch>
            <a:fillRect/>
          </a:stretch>
        </p:blipFill>
        <p:spPr>
          <a:xfrm>
            <a:off x="9932944" y="1803928"/>
            <a:ext cx="342351" cy="342351"/>
          </a:xfrm>
          <a:prstGeom prst="rect">
            <a:avLst/>
          </a:prstGeom>
        </p:spPr>
      </p:pic>
      <p:sp>
        <p:nvSpPr>
          <p:cNvPr id="41" name="Text 33"/>
          <p:cNvSpPr txBox="1"/>
          <p:nvPr/>
        </p:nvSpPr>
        <p:spPr>
          <a:xfrm>
            <a:off x="9774936" y="2423160"/>
            <a:ext cx="1783080" cy="411480"/>
          </a:xfrm>
          <a:prstGeom prst="rect">
            <a:avLst/>
          </a:prstGeom>
          <a:noFill/>
          <a:ln/>
        </p:spPr>
        <p:txBody>
          <a:bodyPr wrap="square" lIns="0" tIns="0" rIns="0" bIns="0" rtlCol="0" anchor="t"/>
          <a:lstStyle/>
          <a:p>
            <a:pPr indent="0" marL="0">
              <a:buNone/>
            </a:pPr>
            <a:r>
              <a:rPr lang="en-US" sz="1800" b="1" dirty="0">
                <a:solidFill>
                  <a:srgbClr val="17292C"/>
                </a:solidFill>
                <a:latin typeface="Cambria" pitchFamily="34" charset="0"/>
                <a:ea typeface="Cambria" pitchFamily="34" charset="-122"/>
                <a:cs typeface="Cambria" pitchFamily="34" charset="-120"/>
              </a:rPr>
              <a:t>Security</a:t>
            </a:r>
            <a:endParaRPr lang="en-US" sz="1800" dirty="0"/>
          </a:p>
        </p:txBody>
      </p:sp>
      <p:sp>
        <p:nvSpPr>
          <p:cNvPr id="42" name="Text 34"/>
          <p:cNvSpPr txBox="1"/>
          <p:nvPr/>
        </p:nvSpPr>
        <p:spPr>
          <a:xfrm>
            <a:off x="9774936" y="2816352"/>
            <a:ext cx="1783080" cy="320040"/>
          </a:xfrm>
          <a:prstGeom prst="rect">
            <a:avLst/>
          </a:prstGeom>
          <a:noFill/>
          <a:ln/>
        </p:spPr>
        <p:txBody>
          <a:bodyPr wrap="square" lIns="0" tIns="0" rIns="0" bIns="0" rtlCol="0" anchor="t"/>
          <a:lstStyle/>
          <a:p>
            <a:pPr indent="0" marL="0">
              <a:buNone/>
            </a:pPr>
            <a:r>
              <a:rPr lang="en-US" sz="1200" b="1" dirty="0">
                <a:solidFill>
                  <a:srgbClr val="2F7D84"/>
                </a:solidFill>
                <a:latin typeface="Calibri" pitchFamily="34" charset="0"/>
                <a:ea typeface="Calibri" pitchFamily="34" charset="-122"/>
                <a:cs typeface="Calibri" pitchFamily="34" charset="-120"/>
              </a:rPr>
              <a:t>Rule engine · statis</a:t>
            </a:r>
            <a:endParaRPr lang="en-US" sz="1200" dirty="0"/>
          </a:p>
        </p:txBody>
      </p:sp>
      <p:sp>
        <p:nvSpPr>
          <p:cNvPr id="43" name="Text 35"/>
          <p:cNvSpPr txBox="1"/>
          <p:nvPr/>
        </p:nvSpPr>
        <p:spPr>
          <a:xfrm>
            <a:off x="9774936" y="3200400"/>
            <a:ext cx="1737360" cy="12344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Kontak + draft → PASS / REVIEW / BLOCK</a:t>
            </a:r>
            <a:endParaRPr lang="en-US" sz="1300" dirty="0"/>
          </a:p>
        </p:txBody>
      </p:sp>
      <p:sp>
        <p:nvSpPr>
          <p:cNvPr id="44" name="Shape 36"/>
          <p:cNvSpPr/>
          <p:nvPr/>
        </p:nvSpPr>
        <p:spPr>
          <a:xfrm>
            <a:off x="9774936" y="4526280"/>
            <a:ext cx="1645920" cy="0"/>
          </a:xfrm>
          <a:prstGeom prst="line">
            <a:avLst/>
          </a:prstGeom>
          <a:noFill/>
          <a:ln w="12700">
            <a:solidFill>
              <a:srgbClr val="BCD7D9"/>
            </a:solidFill>
            <a:prstDash val="solid"/>
          </a:ln>
        </p:spPr>
      </p:sp>
      <p:sp>
        <p:nvSpPr>
          <p:cNvPr id="45" name="Text 37"/>
          <p:cNvSpPr txBox="1"/>
          <p:nvPr/>
        </p:nvSpPr>
        <p:spPr>
          <a:xfrm>
            <a:off x="9774936" y="4617720"/>
            <a:ext cx="1737360" cy="822960"/>
          </a:xfrm>
          <a:prstGeom prst="rect">
            <a:avLst/>
          </a:prstGeom>
          <a:noFill/>
          <a:ln/>
        </p:spPr>
        <p:txBody>
          <a:bodyPr wrap="square" lIns="0" tIns="0" rIns="0" bIns="0" rtlCol="0" anchor="t"/>
          <a:lstStyle/>
          <a:p>
            <a:pPr indent="0" marL="0">
              <a:buNone/>
            </a:pPr>
            <a:r>
              <a:rPr lang="en-US" sz="1200" i="1" dirty="0">
                <a:solidFill>
                  <a:srgbClr val="5F7477"/>
                </a:solidFill>
                <a:latin typeface="Calibri" pitchFamily="34" charset="0"/>
                <a:ea typeface="Calibri" pitchFamily="34" charset="-122"/>
                <a:cs typeface="Calibri" pitchFamily="34" charset="-120"/>
              </a:rPr>
              <a:t>Blokir tidak bisa dibatalkan LLM</a:t>
            </a:r>
            <a:endParaRPr lang="en-US" sz="1200" dirty="0"/>
          </a:p>
        </p:txBody>
      </p:sp>
      <p:sp>
        <p:nvSpPr>
          <p:cNvPr id="46" name="Text 38"/>
          <p:cNvSpPr txBox="1"/>
          <p:nvPr/>
        </p:nvSpPr>
        <p:spPr>
          <a:xfrm>
            <a:off x="548640" y="5760720"/>
            <a:ext cx="11064240" cy="411480"/>
          </a:xfrm>
          <a:prstGeom prst="rect">
            <a:avLst/>
          </a:prstGeom>
          <a:noFill/>
          <a:ln/>
        </p:spPr>
        <p:txBody>
          <a:bodyPr wrap="square" lIns="0" tIns="0" rIns="0" bIns="0" rtlCol="0" anchor="t"/>
          <a:lstStyle/>
          <a:p>
            <a:pPr indent="0" marL="0">
              <a:buNone/>
            </a:pPr>
            <a:r>
              <a:rPr lang="en-US" sz="1400" b="1" dirty="0">
                <a:solidFill>
                  <a:srgbClr val="17292C"/>
                </a:solidFill>
                <a:latin typeface="Calibri" pitchFamily="34" charset="0"/>
                <a:ea typeface="Calibri" pitchFamily="34" charset="-122"/>
                <a:cs typeface="Calibri" pitchFamily="34" charset="-120"/>
              </a:rPr>
              <a:t>Bukan agen AI: </a:t>
            </a:r>
            <a:pPr indent="0" marL="0">
              <a:buNone/>
            </a:pPr>
            <a:r>
              <a:rPr lang="en-US" sz="1400" dirty="0">
                <a:solidFill>
                  <a:srgbClr val="3F5558"/>
                </a:solidFill>
                <a:latin typeface="Calibri" pitchFamily="34" charset="0"/>
                <a:ea typeface="Calibri" pitchFamily="34" charset="-122"/>
                <a:cs typeface="Calibri" pitchFamily="34" charset="-120"/>
              </a:rPr>
              <a:t>Data Gateway, dispatcher, scheduler, Gmail sender, dan adapter layanan adalah kode terprogram.</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Negosiasi Contract Net dan migrasi dengan checkpoint</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7</a:t>
            </a:r>
            <a:endParaRPr lang="en-US" sz="1000" dirty="0"/>
          </a:p>
        </p:txBody>
      </p:sp>
      <p:sp>
        <p:nvSpPr>
          <p:cNvPr id="6" name="Shape 3"/>
          <p:cNvSpPr/>
          <p:nvPr/>
        </p:nvSpPr>
        <p:spPr>
          <a:xfrm>
            <a:off x="585216" y="1316736"/>
            <a:ext cx="6236208" cy="3089425"/>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7" name="Image 0" descr="C:\DATA\02 - Kuliah\Agen Cerdas Enterprise\presentasi\aset\diagram-contract-net.png">    </p:cNvPr>
          <p:cNvPicPr>
            <a:picLocks noChangeAspect="1"/>
          </p:cNvPicPr>
          <p:nvPr/>
        </p:nvPicPr>
        <p:blipFill>
          <a:blip r:embed="rId1"/>
          <a:stretch>
            <a:fillRect/>
          </a:stretch>
        </p:blipFill>
        <p:spPr>
          <a:xfrm>
            <a:off x="640080" y="1371600"/>
            <a:ext cx="6126480" cy="2979697"/>
          </a:xfrm>
          <a:prstGeom prst="rect">
            <a:avLst/>
          </a:prstGeom>
        </p:spPr>
      </p:pic>
      <p:sp>
        <p:nvSpPr>
          <p:cNvPr id="8" name="Shape 4"/>
          <p:cNvSpPr/>
          <p:nvPr/>
        </p:nvSpPr>
        <p:spPr>
          <a:xfrm>
            <a:off x="585216" y="4544568"/>
            <a:ext cx="6236208" cy="1557805"/>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9" name="Image 1" descr="C:\DATA\02 - Kuliah\Agen Cerdas Enterprise\presentasi\aset\diagram-migrasi.png">    </p:cNvPr>
          <p:cNvPicPr>
            <a:picLocks noChangeAspect="1"/>
          </p:cNvPicPr>
          <p:nvPr/>
        </p:nvPicPr>
        <p:blipFill>
          <a:blip r:embed="rId2"/>
          <a:stretch>
            <a:fillRect/>
          </a:stretch>
        </p:blipFill>
        <p:spPr>
          <a:xfrm>
            <a:off x="640080" y="4599432"/>
            <a:ext cx="6126480" cy="1448077"/>
          </a:xfrm>
          <a:prstGeom prst="rect">
            <a:avLst/>
          </a:prstGeom>
        </p:spPr>
      </p:pic>
      <p:sp>
        <p:nvSpPr>
          <p:cNvPr id="10" name="Shape 5"/>
          <p:cNvSpPr/>
          <p:nvPr/>
        </p:nvSpPr>
        <p:spPr>
          <a:xfrm>
            <a:off x="7635240" y="1463040"/>
            <a:ext cx="4005072" cy="1298448"/>
          </a:xfrm>
          <a:prstGeom prst="roundRect">
            <a:avLst>
              <a:gd name="adj" fmla="val 5634"/>
            </a:avLst>
          </a:prstGeom>
          <a:solidFill>
            <a:srgbClr val="EDF5F5"/>
          </a:solidFill>
          <a:ln w="12700">
            <a:solidFill>
              <a:srgbClr val="EDF5F5"/>
            </a:solidFill>
            <a:prstDash val="solid"/>
          </a:ln>
        </p:spPr>
      </p:sp>
      <p:sp>
        <p:nvSpPr>
          <p:cNvPr id="11" name="Text 6"/>
          <p:cNvSpPr txBox="1"/>
          <p:nvPr/>
        </p:nvSpPr>
        <p:spPr>
          <a:xfrm>
            <a:off x="7863840" y="1572768"/>
            <a:ext cx="3566160" cy="658368"/>
          </a:xfrm>
          <a:prstGeom prst="rect">
            <a:avLst/>
          </a:prstGeom>
          <a:noFill/>
          <a:ln/>
        </p:spPr>
        <p:txBody>
          <a:bodyPr wrap="square" lIns="0" tIns="0" rIns="0" bIns="0" rtlCol="0" anchor="t"/>
          <a:lstStyle/>
          <a:p>
            <a:pPr indent="0" marL="0">
              <a:buNone/>
            </a:pPr>
            <a:r>
              <a:rPr lang="en-US" sz="3400" b="1" dirty="0">
                <a:solidFill>
                  <a:srgbClr val="154E54"/>
                </a:solidFill>
                <a:latin typeface="Cambria" pitchFamily="34" charset="0"/>
                <a:ea typeface="Cambria" pitchFamily="34" charset="-122"/>
                <a:cs typeface="Cambria" pitchFamily="34" charset="-120"/>
              </a:rPr>
              <a:t>1.012</a:t>
            </a:r>
            <a:endParaRPr lang="en-US" sz="3400" dirty="0"/>
          </a:p>
        </p:txBody>
      </p:sp>
      <p:sp>
        <p:nvSpPr>
          <p:cNvPr id="12" name="Text 7"/>
          <p:cNvSpPr txBox="1"/>
          <p:nvPr/>
        </p:nvSpPr>
        <p:spPr>
          <a:xfrm>
            <a:off x="7863840" y="2240280"/>
            <a:ext cx="3611880" cy="45720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pesan antaragen dalam simulasi 100 lead</a:t>
            </a:r>
            <a:endParaRPr lang="en-US" sz="1300" dirty="0"/>
          </a:p>
        </p:txBody>
      </p:sp>
      <p:sp>
        <p:nvSpPr>
          <p:cNvPr id="13" name="Shape 8"/>
          <p:cNvSpPr/>
          <p:nvPr/>
        </p:nvSpPr>
        <p:spPr>
          <a:xfrm>
            <a:off x="7635240" y="2944368"/>
            <a:ext cx="4005072" cy="1298448"/>
          </a:xfrm>
          <a:prstGeom prst="roundRect">
            <a:avLst>
              <a:gd name="adj" fmla="val 5634"/>
            </a:avLst>
          </a:prstGeom>
          <a:solidFill>
            <a:srgbClr val="EDF5F5"/>
          </a:solidFill>
          <a:ln w="12700">
            <a:solidFill>
              <a:srgbClr val="EDF5F5"/>
            </a:solidFill>
            <a:prstDash val="solid"/>
          </a:ln>
        </p:spPr>
      </p:sp>
      <p:sp>
        <p:nvSpPr>
          <p:cNvPr id="14" name="Text 9"/>
          <p:cNvSpPr txBox="1"/>
          <p:nvPr/>
        </p:nvSpPr>
        <p:spPr>
          <a:xfrm>
            <a:off x="7863840" y="3054096"/>
            <a:ext cx="3566160" cy="658368"/>
          </a:xfrm>
          <a:prstGeom prst="rect">
            <a:avLst/>
          </a:prstGeom>
          <a:noFill/>
          <a:ln/>
        </p:spPr>
        <p:txBody>
          <a:bodyPr wrap="square" lIns="0" tIns="0" rIns="0" bIns="0" rtlCol="0" anchor="t"/>
          <a:lstStyle/>
          <a:p>
            <a:pPr indent="0" marL="0">
              <a:buNone/>
            </a:pPr>
            <a:r>
              <a:rPr lang="en-US" sz="3400" b="1" dirty="0">
                <a:solidFill>
                  <a:srgbClr val="154E54"/>
                </a:solidFill>
                <a:latin typeface="Cambria" pitchFamily="34" charset="0"/>
                <a:ea typeface="Cambria" pitchFamily="34" charset="-122"/>
                <a:cs typeface="Cambria" pitchFamily="34" charset="-120"/>
              </a:rPr>
              <a:t>200 / 100</a:t>
            </a:r>
            <a:endParaRPr lang="en-US" sz="3400" dirty="0"/>
          </a:p>
        </p:txBody>
      </p:sp>
      <p:sp>
        <p:nvSpPr>
          <p:cNvPr id="15" name="Text 10"/>
          <p:cNvSpPr txBox="1"/>
          <p:nvPr/>
        </p:nvSpPr>
        <p:spPr>
          <a:xfrm>
            <a:off x="7863840" y="3721608"/>
            <a:ext cx="3611880" cy="45720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CFP terkirim / proposal diterima</a:t>
            </a:r>
            <a:endParaRPr lang="en-US" sz="1300" dirty="0"/>
          </a:p>
        </p:txBody>
      </p:sp>
      <p:sp>
        <p:nvSpPr>
          <p:cNvPr id="16" name="Shape 11"/>
          <p:cNvSpPr/>
          <p:nvPr/>
        </p:nvSpPr>
        <p:spPr>
          <a:xfrm>
            <a:off x="7635240" y="4425696"/>
            <a:ext cx="4005072" cy="1298448"/>
          </a:xfrm>
          <a:prstGeom prst="roundRect">
            <a:avLst>
              <a:gd name="adj" fmla="val 5634"/>
            </a:avLst>
          </a:prstGeom>
          <a:solidFill>
            <a:srgbClr val="EDF5F5"/>
          </a:solidFill>
          <a:ln w="12700">
            <a:solidFill>
              <a:srgbClr val="EDF5F5"/>
            </a:solidFill>
            <a:prstDash val="solid"/>
          </a:ln>
        </p:spPr>
      </p:sp>
      <p:sp>
        <p:nvSpPr>
          <p:cNvPr id="17" name="Text 12"/>
          <p:cNvSpPr txBox="1"/>
          <p:nvPr/>
        </p:nvSpPr>
        <p:spPr>
          <a:xfrm>
            <a:off x="7863840" y="4535424"/>
            <a:ext cx="3566160" cy="658368"/>
          </a:xfrm>
          <a:prstGeom prst="rect">
            <a:avLst/>
          </a:prstGeom>
          <a:noFill/>
          <a:ln/>
        </p:spPr>
        <p:txBody>
          <a:bodyPr wrap="square" lIns="0" tIns="0" rIns="0" bIns="0" rtlCol="0" anchor="t"/>
          <a:lstStyle/>
          <a:p>
            <a:pPr indent="0" marL="0">
              <a:buNone/>
            </a:pPr>
            <a:r>
              <a:rPr lang="en-US" sz="3400" b="1" dirty="0">
                <a:solidFill>
                  <a:srgbClr val="154E54"/>
                </a:solidFill>
                <a:latin typeface="Cambria" pitchFamily="34" charset="0"/>
                <a:ea typeface="Cambria" pitchFamily="34" charset="-122"/>
                <a:cs typeface="Cambria" pitchFamily="34" charset="-120"/>
              </a:rPr>
              <a:t>2</a:t>
            </a:r>
            <a:endParaRPr lang="en-US" sz="3400" dirty="0"/>
          </a:p>
        </p:txBody>
      </p:sp>
      <p:sp>
        <p:nvSpPr>
          <p:cNvPr id="18" name="Text 13"/>
          <p:cNvSpPr txBox="1"/>
          <p:nvPr/>
        </p:nvSpPr>
        <p:spPr>
          <a:xfrm>
            <a:off x="7863840" y="5202936"/>
            <a:ext cx="3611880" cy="45720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migrasi A → B; hasil generation lama ditolak</a:t>
            </a:r>
            <a:endParaRPr lang="en-US" sz="1300" dirty="0"/>
          </a:p>
        </p:txBody>
      </p:sp>
      <p:sp>
        <p:nvSpPr>
          <p:cNvPr id="19" name="Text 14"/>
          <p:cNvSpPr txBox="1"/>
          <p:nvPr/>
        </p:nvSpPr>
        <p:spPr>
          <a:xfrm>
            <a:off x="7635240" y="5943600"/>
            <a:ext cx="4023360" cy="320040"/>
          </a:xfrm>
          <a:prstGeom prst="rect">
            <a:avLst/>
          </a:prstGeom>
          <a:noFill/>
          <a:ln/>
        </p:spPr>
        <p:txBody>
          <a:bodyPr wrap="square" lIns="0" tIns="0" rIns="0" bIns="0" rtlCol="0" anchor="t"/>
          <a:lstStyle/>
          <a:p>
            <a:pPr indent="0" marL="0">
              <a:buNone/>
            </a:pPr>
            <a:r>
              <a:rPr lang="en-US" sz="1100" i="1" dirty="0">
                <a:solidFill>
                  <a:srgbClr val="5F7477"/>
                </a:solidFill>
                <a:latin typeface="Calibri" pitchFamily="34" charset="0"/>
                <a:ea typeface="Calibri" pitchFamily="34" charset="-122"/>
                <a:cs typeface="Calibri" pitchFamily="34" charset="-120"/>
              </a:rPr>
              <a:t>Sumber angka: simulasi dengan layanan tiruan dan data fiktif.</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Entity linking: agen tidak menebak identitas</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8</a:t>
            </a:r>
            <a:endParaRPr lang="en-US" sz="1000" dirty="0"/>
          </a:p>
        </p:txBody>
      </p:sp>
      <p:sp>
        <p:nvSpPr>
          <p:cNvPr id="6" name="Shape 3"/>
          <p:cNvSpPr/>
          <p:nvPr/>
        </p:nvSpPr>
        <p:spPr>
          <a:xfrm>
            <a:off x="548640" y="1417320"/>
            <a:ext cx="5120640" cy="1417320"/>
          </a:xfrm>
          <a:prstGeom prst="roundRect">
            <a:avLst>
              <a:gd name="adj" fmla="val 6452"/>
            </a:avLst>
          </a:prstGeom>
          <a:solidFill>
            <a:srgbClr val="154E54"/>
          </a:solidFill>
          <a:ln w="12700">
            <a:solidFill>
              <a:srgbClr val="154E54"/>
            </a:solidFill>
            <a:prstDash val="solid"/>
          </a:ln>
        </p:spPr>
      </p:sp>
      <p:sp>
        <p:nvSpPr>
          <p:cNvPr id="7" name="Text 4"/>
          <p:cNvSpPr txBox="1"/>
          <p:nvPr/>
        </p:nvSpPr>
        <p:spPr>
          <a:xfrm>
            <a:off x="731520" y="1554480"/>
            <a:ext cx="4846320" cy="640080"/>
          </a:xfrm>
          <a:prstGeom prst="rect">
            <a:avLst/>
          </a:prstGeom>
          <a:noFill/>
          <a:ln/>
        </p:spPr>
        <p:txBody>
          <a:bodyPr wrap="square" lIns="0" tIns="0" rIns="0" bIns="0" rtlCol="0" anchor="ctr">
            <a:normAutofit/>
          </a:bodyPr>
          <a:lstStyle/>
          <a:p>
            <a:pPr indent="0" marL="0">
              <a:buNone/>
            </a:pPr>
            <a:r>
              <a:rPr lang="en-US" sz="2100" b="1" dirty="0">
                <a:solidFill>
                  <a:srgbClr val="FFFFFF"/>
                </a:solidFill>
                <a:latin typeface="Cambria" pitchFamily="34" charset="0"/>
                <a:ea typeface="Cambria" pitchFamily="34" charset="-122"/>
                <a:cs typeface="Cambria" pitchFamily="34" charset="-120"/>
              </a:rPr>
              <a:t>S = 0,40d + 0,30n + 0,20c + 0,10r</a:t>
            </a:r>
            <a:endParaRPr lang="en-US" sz="2100" dirty="0"/>
          </a:p>
        </p:txBody>
      </p:sp>
      <p:sp>
        <p:nvSpPr>
          <p:cNvPr id="8" name="Text 5"/>
          <p:cNvSpPr txBox="1"/>
          <p:nvPr/>
        </p:nvSpPr>
        <p:spPr>
          <a:xfrm>
            <a:off x="777240" y="2240280"/>
            <a:ext cx="4572000" cy="411480"/>
          </a:xfrm>
          <a:prstGeom prst="rect">
            <a:avLst/>
          </a:prstGeom>
          <a:noFill/>
          <a:ln/>
        </p:spPr>
        <p:txBody>
          <a:bodyPr wrap="square" lIns="0" tIns="0" rIns="0" bIns="0" rtlCol="0" anchor="t"/>
          <a:lstStyle/>
          <a:p>
            <a:pPr indent="0" marL="0">
              <a:buNone/>
            </a:pPr>
            <a:r>
              <a:rPr lang="en-US" sz="1300" dirty="0">
                <a:solidFill>
                  <a:srgbClr val="BCD7D9"/>
                </a:solidFill>
                <a:latin typeface="Calibri" pitchFamily="34" charset="0"/>
                <a:ea typeface="Calibri" pitchFamily="34" charset="-122"/>
                <a:cs typeface="Calibri" pitchFamily="34" charset="-120"/>
              </a:rPr>
              <a:t>d domain/URL · n nama · c perusahaan · r jabatan (0–1)</a:t>
            </a:r>
            <a:endParaRPr lang="en-US" sz="1300" dirty="0"/>
          </a:p>
        </p:txBody>
      </p:sp>
      <p:sp>
        <p:nvSpPr>
          <p:cNvPr id="9" name="Text 6"/>
          <p:cNvSpPr txBox="1"/>
          <p:nvPr/>
        </p:nvSpPr>
        <p:spPr>
          <a:xfrm>
            <a:off x="548640" y="3017520"/>
            <a:ext cx="4937760" cy="640080"/>
          </a:xfrm>
          <a:prstGeom prst="rect">
            <a:avLst/>
          </a:prstGeom>
          <a:noFill/>
          <a:ln/>
        </p:spPr>
        <p:txBody>
          <a:bodyPr wrap="square" lIns="0" tIns="0" rIns="0" bIns="0" rtlCol="0" anchor="t"/>
          <a:lstStyle/>
          <a:p>
            <a:pPr indent="0" marL="0">
              <a:buNone/>
            </a:pPr>
            <a:r>
              <a:rPr lang="en-US" sz="1500" dirty="0">
                <a:solidFill>
                  <a:srgbClr val="3F5558"/>
                </a:solidFill>
                <a:latin typeface="Calibri" pitchFamily="34" charset="0"/>
                <a:ea typeface="Calibri" pitchFamily="34" charset="-122"/>
                <a:cs typeface="Calibri" pitchFamily="34" charset="-120"/>
              </a:rPr>
              <a:t>Terima bila </a:t>
            </a:r>
            <a:pPr indent="0" marL="0">
              <a:buNone/>
            </a:pPr>
            <a:r>
              <a:rPr lang="en-US" sz="1500" b="1" dirty="0">
                <a:solidFill>
                  <a:srgbClr val="3F5558"/>
                </a:solidFill>
                <a:latin typeface="Calibri" pitchFamily="34" charset="0"/>
                <a:ea typeface="Calibri" pitchFamily="34" charset="-122"/>
                <a:cs typeface="Calibri" pitchFamily="34" charset="-120"/>
              </a:rPr>
              <a:t>S ≥ 0,85</a:t>
            </a:r>
            <a:pPr indent="0" marL="0">
              <a:buNone/>
            </a:pPr>
            <a:r>
              <a:rPr lang="en-US" sz="1500" dirty="0">
                <a:solidFill>
                  <a:srgbClr val="3F5558"/>
                </a:solidFill>
                <a:latin typeface="Calibri" pitchFamily="34" charset="0"/>
                <a:ea typeface="Calibri" pitchFamily="34" charset="-122"/>
                <a:cs typeface="Calibri" pitchFamily="34" charset="-120"/>
              </a:rPr>
              <a:t> dan unggul </a:t>
            </a:r>
            <a:pPr indent="0" marL="0">
              <a:buNone/>
            </a:pPr>
            <a:r>
              <a:rPr lang="en-US" sz="1500" b="1" dirty="0">
                <a:solidFill>
                  <a:srgbClr val="3F5558"/>
                </a:solidFill>
                <a:latin typeface="Calibri" pitchFamily="34" charset="0"/>
                <a:ea typeface="Calibri" pitchFamily="34" charset="-122"/>
                <a:cs typeface="Calibri" pitchFamily="34" charset="-120"/>
              </a:rPr>
              <a:t>≥ 0,10</a:t>
            </a:r>
            <a:pPr indent="0" marL="0">
              <a:buNone/>
            </a:pPr>
            <a:r>
              <a:rPr lang="en-US" sz="1500" dirty="0">
                <a:solidFill>
                  <a:srgbClr val="3F5558"/>
                </a:solidFill>
                <a:latin typeface="Calibri" pitchFamily="34" charset="0"/>
                <a:ea typeface="Calibri" pitchFamily="34" charset="-122"/>
                <a:cs typeface="Calibri" pitchFamily="34" charset="-120"/>
              </a:rPr>
              <a:t>; selain itu review manusia.</a:t>
            </a:r>
            <a:endParaRPr lang="en-US" sz="1500" dirty="0"/>
          </a:p>
        </p:txBody>
      </p:sp>
      <p:sp>
        <p:nvSpPr>
          <p:cNvPr id="10" name="Shape 7"/>
          <p:cNvSpPr/>
          <p:nvPr/>
        </p:nvSpPr>
        <p:spPr>
          <a:xfrm>
            <a:off x="548640" y="3749040"/>
            <a:ext cx="457200" cy="457200"/>
          </a:xfrm>
          <a:prstGeom prst="ellipse">
            <a:avLst/>
          </a:prstGeom>
          <a:solidFill>
            <a:srgbClr val="EDF5F5"/>
          </a:solidFill>
          <a:ln w="12700">
            <a:solidFill>
              <a:srgbClr val="EDF5F5"/>
            </a:solidFill>
            <a:prstDash val="solid"/>
          </a:ln>
        </p:spPr>
      </p:sp>
      <p:pic>
        <p:nvPicPr>
          <p:cNvPr id="11" name="Image 0" descr="preencoded.png">    </p:cNvPr>
          <p:cNvPicPr>
            <a:picLocks noChangeAspect="1"/>
          </p:cNvPicPr>
          <p:nvPr/>
        </p:nvPicPr>
        <p:blipFill>
          <a:blip r:embed="rId1"/>
          <a:stretch>
            <a:fillRect/>
          </a:stretch>
        </p:blipFill>
        <p:spPr>
          <a:xfrm>
            <a:off x="658368" y="3858768"/>
            <a:ext cx="237744" cy="237744"/>
          </a:xfrm>
          <a:prstGeom prst="rect">
            <a:avLst/>
          </a:prstGeom>
        </p:spPr>
      </p:pic>
      <p:sp>
        <p:nvSpPr>
          <p:cNvPr id="12" name="Text 8"/>
          <p:cNvSpPr txBox="1"/>
          <p:nvPr/>
        </p:nvSpPr>
        <p:spPr>
          <a:xfrm>
            <a:off x="1143000" y="3749040"/>
            <a:ext cx="4389120" cy="457200"/>
          </a:xfrm>
          <a:prstGeom prst="rect">
            <a:avLst/>
          </a:prstGeom>
          <a:noFill/>
          <a:ln/>
        </p:spPr>
        <p:txBody>
          <a:bodyPr wrap="square" lIns="0" tIns="0" rIns="0" bIns="0" rtlCol="0" anchor="ctr"/>
          <a:lstStyle/>
          <a:p>
            <a:pPr indent="0" marL="0">
              <a:buNone/>
            </a:pPr>
            <a:r>
              <a:rPr lang="en-US" sz="1350" b="1" dirty="0">
                <a:solidFill>
                  <a:srgbClr val="17292C"/>
                </a:solidFill>
                <a:latin typeface="Calibri" pitchFamily="34" charset="0"/>
                <a:ea typeface="Calibri" pitchFamily="34" charset="-122"/>
                <a:cs typeface="Calibri" pitchFamily="34" charset="-120"/>
              </a:rPr>
              <a:t>Rule-based  </a:t>
            </a:r>
            <a:pPr indent="0" marL="0">
              <a:buNone/>
            </a:pPr>
            <a:r>
              <a:rPr lang="en-US" sz="1350" dirty="0">
                <a:solidFill>
                  <a:srgbClr val="3F5558"/>
                </a:solidFill>
                <a:latin typeface="Calibri" pitchFamily="34" charset="0"/>
                <a:ea typeface="Calibri" pitchFamily="34" charset="-122"/>
                <a:cs typeface="Calibri" pitchFamily="34" charset="-120"/>
              </a:rPr>
              <a:t>Wajib: izin, suppression, duplikat, jadwal</a:t>
            </a:r>
            <a:endParaRPr lang="en-US" sz="1350" dirty="0"/>
          </a:p>
        </p:txBody>
      </p:sp>
      <p:sp>
        <p:nvSpPr>
          <p:cNvPr id="13" name="Shape 9"/>
          <p:cNvSpPr/>
          <p:nvPr/>
        </p:nvSpPr>
        <p:spPr>
          <a:xfrm>
            <a:off x="548640" y="4352544"/>
            <a:ext cx="457200" cy="457200"/>
          </a:xfrm>
          <a:prstGeom prst="ellipse">
            <a:avLst/>
          </a:prstGeom>
          <a:solidFill>
            <a:srgbClr val="EDF5F5"/>
          </a:solidFill>
          <a:ln w="12700">
            <a:solidFill>
              <a:srgbClr val="EDF5F5"/>
            </a:solidFill>
            <a:prstDash val="solid"/>
          </a:ln>
        </p:spPr>
      </p:sp>
      <p:pic>
        <p:nvPicPr>
          <p:cNvPr id="14" name="Image 1" descr="preencoded.png">    </p:cNvPr>
          <p:cNvPicPr>
            <a:picLocks noChangeAspect="1"/>
          </p:cNvPicPr>
          <p:nvPr/>
        </p:nvPicPr>
        <p:blipFill>
          <a:blip r:embed="rId2"/>
          <a:stretch>
            <a:fillRect/>
          </a:stretch>
        </p:blipFill>
        <p:spPr>
          <a:xfrm>
            <a:off x="658368" y="4462272"/>
            <a:ext cx="237744" cy="237744"/>
          </a:xfrm>
          <a:prstGeom prst="rect">
            <a:avLst/>
          </a:prstGeom>
        </p:spPr>
      </p:pic>
      <p:sp>
        <p:nvSpPr>
          <p:cNvPr id="15" name="Text 10"/>
          <p:cNvSpPr txBox="1"/>
          <p:nvPr/>
        </p:nvSpPr>
        <p:spPr>
          <a:xfrm>
            <a:off x="1143000" y="4352544"/>
            <a:ext cx="4389120" cy="457200"/>
          </a:xfrm>
          <a:prstGeom prst="rect">
            <a:avLst/>
          </a:prstGeom>
          <a:noFill/>
          <a:ln/>
        </p:spPr>
        <p:txBody>
          <a:bodyPr wrap="square" lIns="0" tIns="0" rIns="0" bIns="0" rtlCol="0" anchor="ctr"/>
          <a:lstStyle/>
          <a:p>
            <a:pPr indent="0" marL="0">
              <a:buNone/>
            </a:pPr>
            <a:r>
              <a:rPr lang="en-US" sz="1350" b="1" dirty="0">
                <a:solidFill>
                  <a:srgbClr val="17292C"/>
                </a:solidFill>
                <a:latin typeface="Calibri" pitchFamily="34" charset="0"/>
                <a:ea typeface="Calibri" pitchFamily="34" charset="-122"/>
                <a:cs typeface="Calibri" pitchFamily="34" charset="-120"/>
              </a:rPr>
              <a:t>DL / LLM  </a:t>
            </a:r>
            <a:pPr indent="0" marL="0">
              <a:buNone/>
            </a:pPr>
            <a:r>
              <a:rPr lang="en-US" sz="1350" dirty="0">
                <a:solidFill>
                  <a:srgbClr val="3F5558"/>
                </a:solidFill>
                <a:latin typeface="Calibri" pitchFamily="34" charset="0"/>
                <a:ea typeface="Calibri" pitchFamily="34" charset="-122"/>
                <a:cs typeface="Calibri" pitchFamily="34" charset="-120"/>
              </a:rPr>
              <a:t>OpenRouter, keluaran JSON sesuai skema</a:t>
            </a:r>
            <a:endParaRPr lang="en-US" sz="1350" dirty="0"/>
          </a:p>
        </p:txBody>
      </p:sp>
      <p:sp>
        <p:nvSpPr>
          <p:cNvPr id="16" name="Shape 11"/>
          <p:cNvSpPr/>
          <p:nvPr/>
        </p:nvSpPr>
        <p:spPr>
          <a:xfrm>
            <a:off x="548640" y="4956048"/>
            <a:ext cx="457200" cy="457200"/>
          </a:xfrm>
          <a:prstGeom prst="ellipse">
            <a:avLst/>
          </a:prstGeom>
          <a:solidFill>
            <a:srgbClr val="EDF5F5"/>
          </a:solidFill>
          <a:ln w="12700">
            <a:solidFill>
              <a:srgbClr val="EDF5F5"/>
            </a:solidFill>
            <a:prstDash val="solid"/>
          </a:ln>
        </p:spPr>
      </p:sp>
      <p:pic>
        <p:nvPicPr>
          <p:cNvPr id="17" name="Image 2" descr="preencoded.png">    </p:cNvPr>
          <p:cNvPicPr>
            <a:picLocks noChangeAspect="1"/>
          </p:cNvPicPr>
          <p:nvPr/>
        </p:nvPicPr>
        <p:blipFill>
          <a:blip r:embed="rId3"/>
          <a:stretch>
            <a:fillRect/>
          </a:stretch>
        </p:blipFill>
        <p:spPr>
          <a:xfrm>
            <a:off x="658368" y="5065776"/>
            <a:ext cx="237744" cy="237744"/>
          </a:xfrm>
          <a:prstGeom prst="rect">
            <a:avLst/>
          </a:prstGeom>
        </p:spPr>
      </p:pic>
      <p:sp>
        <p:nvSpPr>
          <p:cNvPr id="18" name="Text 12"/>
          <p:cNvSpPr txBox="1"/>
          <p:nvPr/>
        </p:nvSpPr>
        <p:spPr>
          <a:xfrm>
            <a:off x="1143000" y="4956048"/>
            <a:ext cx="4389120" cy="457200"/>
          </a:xfrm>
          <a:prstGeom prst="rect">
            <a:avLst/>
          </a:prstGeom>
          <a:noFill/>
          <a:ln/>
        </p:spPr>
        <p:txBody>
          <a:bodyPr wrap="square" lIns="0" tIns="0" rIns="0" bIns="0" rtlCol="0" anchor="ctr"/>
          <a:lstStyle/>
          <a:p>
            <a:pPr indent="0" marL="0">
              <a:buNone/>
            </a:pPr>
            <a:r>
              <a:rPr lang="en-US" sz="1350" b="1" dirty="0">
                <a:solidFill>
                  <a:srgbClr val="17292C"/>
                </a:solidFill>
                <a:latin typeface="Calibri" pitchFamily="34" charset="0"/>
                <a:ea typeface="Calibri" pitchFamily="34" charset="-122"/>
                <a:cs typeface="Calibri" pitchFamily="34" charset="-120"/>
              </a:rPr>
              <a:t>ML  </a:t>
            </a:r>
            <a:pPr indent="0" marL="0">
              <a:buNone/>
            </a:pPr>
            <a:r>
              <a:rPr lang="en-US" sz="1350" dirty="0">
                <a:solidFill>
                  <a:srgbClr val="3F5558"/>
                </a:solidFill>
                <a:latin typeface="Calibri" pitchFamily="34" charset="0"/>
                <a:ea typeface="Calibri" pitchFamily="34" charset="-122"/>
                <a:cs typeface="Calibri" pitchFamily="34" charset="-120"/>
              </a:rPr>
              <a:t>Classifier pasangan entitas (eksperimen)</a:t>
            </a:r>
            <a:endParaRPr lang="en-US" sz="1350" dirty="0"/>
          </a:p>
        </p:txBody>
      </p:sp>
      <p:sp>
        <p:nvSpPr>
          <p:cNvPr id="19" name="Shape 13"/>
          <p:cNvSpPr/>
          <p:nvPr/>
        </p:nvSpPr>
        <p:spPr>
          <a:xfrm>
            <a:off x="548640" y="5559552"/>
            <a:ext cx="457200" cy="457200"/>
          </a:xfrm>
          <a:prstGeom prst="ellipse">
            <a:avLst/>
          </a:prstGeom>
          <a:solidFill>
            <a:srgbClr val="EDF5F5"/>
          </a:solidFill>
          <a:ln w="12700">
            <a:solidFill>
              <a:srgbClr val="EDF5F5"/>
            </a:solidFill>
            <a:prstDash val="solid"/>
          </a:ln>
        </p:spPr>
      </p:sp>
      <p:pic>
        <p:nvPicPr>
          <p:cNvPr id="20" name="Image 3" descr="preencoded.png">    </p:cNvPr>
          <p:cNvPicPr>
            <a:picLocks noChangeAspect="1"/>
          </p:cNvPicPr>
          <p:nvPr/>
        </p:nvPicPr>
        <p:blipFill>
          <a:blip r:embed="rId4"/>
          <a:stretch>
            <a:fillRect/>
          </a:stretch>
        </p:blipFill>
        <p:spPr>
          <a:xfrm>
            <a:off x="658368" y="5669280"/>
            <a:ext cx="237744" cy="237744"/>
          </a:xfrm>
          <a:prstGeom prst="rect">
            <a:avLst/>
          </a:prstGeom>
        </p:spPr>
      </p:pic>
      <p:sp>
        <p:nvSpPr>
          <p:cNvPr id="21" name="Text 14"/>
          <p:cNvSpPr txBox="1"/>
          <p:nvPr/>
        </p:nvSpPr>
        <p:spPr>
          <a:xfrm>
            <a:off x="1143000" y="5559552"/>
            <a:ext cx="4389120" cy="457200"/>
          </a:xfrm>
          <a:prstGeom prst="rect">
            <a:avLst/>
          </a:prstGeom>
          <a:noFill/>
          <a:ln/>
        </p:spPr>
        <p:txBody>
          <a:bodyPr wrap="square" lIns="0" tIns="0" rIns="0" bIns="0" rtlCol="0" anchor="ctr"/>
          <a:lstStyle/>
          <a:p>
            <a:pPr indent="0" marL="0">
              <a:buNone/>
            </a:pPr>
            <a:r>
              <a:rPr lang="en-US" sz="1350" b="1" dirty="0">
                <a:solidFill>
                  <a:srgbClr val="17292C"/>
                </a:solidFill>
                <a:latin typeface="Calibri" pitchFamily="34" charset="0"/>
                <a:ea typeface="Calibri" pitchFamily="34" charset="-122"/>
                <a:cs typeface="Calibri" pitchFamily="34" charset="-120"/>
              </a:rPr>
              <a:t>RL  </a:t>
            </a:r>
            <a:pPr indent="0" marL="0">
              <a:buNone/>
            </a:pPr>
            <a:r>
              <a:rPr lang="en-US" sz="1350" dirty="0">
                <a:solidFill>
                  <a:srgbClr val="3F5558"/>
                </a:solidFill>
                <a:latin typeface="Calibri" pitchFamily="34" charset="0"/>
                <a:ea typeface="Calibri" pitchFamily="34" charset="-122"/>
                <a:cs typeface="Calibri" pitchFamily="34" charset="-120"/>
              </a:rPr>
              <a:t>Contextual bandit alokasi worker (offline)</a:t>
            </a:r>
            <a:endParaRPr lang="en-US" sz="1350" dirty="0"/>
          </a:p>
        </p:txBody>
      </p:sp>
      <p:sp>
        <p:nvSpPr>
          <p:cNvPr id="22" name="Shape 15"/>
          <p:cNvSpPr/>
          <p:nvPr/>
        </p:nvSpPr>
        <p:spPr>
          <a:xfrm>
            <a:off x="5980176" y="1362456"/>
            <a:ext cx="5687568" cy="4633976"/>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23" name="Image 4" descr="C:\DATA\02 - Kuliah\Agen Cerdas Enterprise\docs\gambar\review-identitas.png">    </p:cNvPr>
          <p:cNvPicPr>
            <a:picLocks noChangeAspect="1"/>
          </p:cNvPicPr>
          <p:nvPr/>
        </p:nvPicPr>
        <p:blipFill>
          <a:blip r:embed="rId5"/>
          <a:stretch>
            <a:fillRect/>
          </a:stretch>
        </p:blipFill>
        <p:spPr>
          <a:xfrm>
            <a:off x="6035040" y="1417320"/>
            <a:ext cx="5577840" cy="452424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3136"/>
        </a:solidFill>
      </p:bgPr>
    </p:bg>
    <p:spTree>
      <p:nvGrpSpPr>
        <p:cNvPr id="1" name=""/>
        <p:cNvGrpSpPr/>
        <p:nvPr/>
      </p:nvGrpSpPr>
      <p:grpSpPr>
        <a:xfrm>
          <a:off x="0" y="0"/>
          <a:ext cx="0" cy="0"/>
          <a:chOff x="0" y="0"/>
          <a:chExt cx="0" cy="0"/>
        </a:xfrm>
      </p:grpSpPr>
      <p:sp>
        <p:nvSpPr>
          <p:cNvPr id="3" name="Text 0"/>
          <p:cNvSpPr txBox="1"/>
          <p:nvPr/>
        </p:nvSpPr>
        <p:spPr>
          <a:xfrm>
            <a:off x="640080" y="1874520"/>
            <a:ext cx="10881360" cy="91440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Dari rancangan ke prototipe</a:t>
            </a:r>
            <a:endParaRPr lang="en-US" sz="4400" dirty="0"/>
          </a:p>
        </p:txBody>
      </p:sp>
      <p:sp>
        <p:nvSpPr>
          <p:cNvPr id="4" name="Text 1"/>
          <p:cNvSpPr txBox="1"/>
          <p:nvPr/>
        </p:nvSpPr>
        <p:spPr>
          <a:xfrm>
            <a:off x="640080" y="2880360"/>
            <a:ext cx="10515600" cy="548640"/>
          </a:xfrm>
          <a:prstGeom prst="rect">
            <a:avLst/>
          </a:prstGeom>
          <a:noFill/>
          <a:ln/>
        </p:spPr>
        <p:txBody>
          <a:bodyPr wrap="square" lIns="0" tIns="0" rIns="0" bIns="0" rtlCol="0" anchor="t"/>
          <a:lstStyle/>
          <a:p>
            <a:pPr indent="0" marL="0">
              <a:buNone/>
            </a:pPr>
            <a:r>
              <a:rPr lang="en-US" sz="2000" dirty="0">
                <a:solidFill>
                  <a:srgbClr val="BCD7D9"/>
                </a:solidFill>
                <a:latin typeface="Calibri" pitchFamily="34" charset="0"/>
                <a:ea typeface="Calibri" pitchFamily="34" charset="-122"/>
                <a:cs typeface="Calibri" pitchFamily="34" charset="-120"/>
              </a:rPr>
              <a:t>Prototipe fungsional berjalan dari ujung ke ujung: Setup → Preview &amp; Approval → Monitor.</a:t>
            </a:r>
            <a:endParaRPr lang="en-US" sz="2000" dirty="0"/>
          </a:p>
        </p:txBody>
      </p:sp>
      <p:sp>
        <p:nvSpPr>
          <p:cNvPr id="5" name="Shape 2"/>
          <p:cNvSpPr/>
          <p:nvPr/>
        </p:nvSpPr>
        <p:spPr>
          <a:xfrm>
            <a:off x="640080" y="3840480"/>
            <a:ext cx="881482" cy="457200"/>
          </a:xfrm>
          <a:prstGeom prst="roundRect">
            <a:avLst>
              <a:gd name="adj" fmla="val 44000"/>
            </a:avLst>
          </a:prstGeom>
          <a:solidFill>
            <a:srgbClr val="154E54"/>
          </a:solidFill>
          <a:ln w="12700">
            <a:solidFill>
              <a:srgbClr val="2F7D84"/>
            </a:solidFill>
            <a:prstDash val="solid"/>
          </a:ln>
        </p:spPr>
      </p:sp>
      <p:sp>
        <p:nvSpPr>
          <p:cNvPr id="6" name="Text 3"/>
          <p:cNvSpPr txBox="1"/>
          <p:nvPr/>
        </p:nvSpPr>
        <p:spPr>
          <a:xfrm>
            <a:off x="640080" y="3840480"/>
            <a:ext cx="881482"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FastAPI</a:t>
            </a:r>
            <a:endParaRPr lang="en-US" sz="1250" dirty="0"/>
          </a:p>
        </p:txBody>
      </p:sp>
      <p:sp>
        <p:nvSpPr>
          <p:cNvPr id="7" name="Shape 4"/>
          <p:cNvSpPr/>
          <p:nvPr/>
        </p:nvSpPr>
        <p:spPr>
          <a:xfrm>
            <a:off x="1649578" y="3840480"/>
            <a:ext cx="1806854" cy="457200"/>
          </a:xfrm>
          <a:prstGeom prst="roundRect">
            <a:avLst>
              <a:gd name="adj" fmla="val 44000"/>
            </a:avLst>
          </a:prstGeom>
          <a:solidFill>
            <a:srgbClr val="154E54"/>
          </a:solidFill>
          <a:ln w="12700">
            <a:solidFill>
              <a:srgbClr val="2F7D84"/>
            </a:solidFill>
            <a:prstDash val="solid"/>
          </a:ln>
        </p:spPr>
      </p:sp>
      <p:sp>
        <p:nvSpPr>
          <p:cNvPr id="8" name="Text 5"/>
          <p:cNvSpPr txBox="1"/>
          <p:nvPr/>
        </p:nvSpPr>
        <p:spPr>
          <a:xfrm>
            <a:off x="1649578" y="3840480"/>
            <a:ext cx="1806854"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React + TypeScript</a:t>
            </a:r>
            <a:endParaRPr lang="en-US" sz="1250" dirty="0"/>
          </a:p>
        </p:txBody>
      </p:sp>
      <p:sp>
        <p:nvSpPr>
          <p:cNvPr id="9" name="Shape 6"/>
          <p:cNvSpPr/>
          <p:nvPr/>
        </p:nvSpPr>
        <p:spPr>
          <a:xfrm>
            <a:off x="3584448" y="3840480"/>
            <a:ext cx="2648102" cy="457200"/>
          </a:xfrm>
          <a:prstGeom prst="roundRect">
            <a:avLst>
              <a:gd name="adj" fmla="val 44000"/>
            </a:avLst>
          </a:prstGeom>
          <a:solidFill>
            <a:srgbClr val="154E54"/>
          </a:solidFill>
          <a:ln w="12700">
            <a:solidFill>
              <a:srgbClr val="2F7D84"/>
            </a:solidFill>
            <a:prstDash val="solid"/>
          </a:ln>
        </p:spPr>
      </p:sp>
      <p:sp>
        <p:nvSpPr>
          <p:cNvPr id="10" name="Text 7"/>
          <p:cNvSpPr txBox="1"/>
          <p:nvPr/>
        </p:nvSpPr>
        <p:spPr>
          <a:xfrm>
            <a:off x="3584448" y="3840480"/>
            <a:ext cx="2648102"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OpenRouter · Claude Sonnet 5</a:t>
            </a:r>
            <a:endParaRPr lang="en-US" sz="1250" dirty="0"/>
          </a:p>
        </p:txBody>
      </p:sp>
      <p:sp>
        <p:nvSpPr>
          <p:cNvPr id="11" name="Shape 8"/>
          <p:cNvSpPr/>
          <p:nvPr/>
        </p:nvSpPr>
        <p:spPr>
          <a:xfrm>
            <a:off x="6360566" y="3840480"/>
            <a:ext cx="713232" cy="457200"/>
          </a:xfrm>
          <a:prstGeom prst="roundRect">
            <a:avLst>
              <a:gd name="adj" fmla="val 44000"/>
            </a:avLst>
          </a:prstGeom>
          <a:solidFill>
            <a:srgbClr val="154E54"/>
          </a:solidFill>
          <a:ln w="12700">
            <a:solidFill>
              <a:srgbClr val="2F7D84"/>
            </a:solidFill>
            <a:prstDash val="solid"/>
          </a:ln>
        </p:spPr>
      </p:sp>
      <p:sp>
        <p:nvSpPr>
          <p:cNvPr id="12" name="Text 9"/>
          <p:cNvSpPr txBox="1"/>
          <p:nvPr/>
        </p:nvSpPr>
        <p:spPr>
          <a:xfrm>
            <a:off x="6360566" y="3840480"/>
            <a:ext cx="713232"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Apify</a:t>
            </a:r>
            <a:endParaRPr lang="en-US" sz="1250" dirty="0"/>
          </a:p>
        </p:txBody>
      </p:sp>
      <p:sp>
        <p:nvSpPr>
          <p:cNvPr id="13" name="Shape 10"/>
          <p:cNvSpPr/>
          <p:nvPr/>
        </p:nvSpPr>
        <p:spPr>
          <a:xfrm>
            <a:off x="7201814" y="3840480"/>
            <a:ext cx="1049731" cy="457200"/>
          </a:xfrm>
          <a:prstGeom prst="roundRect">
            <a:avLst>
              <a:gd name="adj" fmla="val 44000"/>
            </a:avLst>
          </a:prstGeom>
          <a:solidFill>
            <a:srgbClr val="154E54"/>
          </a:solidFill>
          <a:ln w="12700">
            <a:solidFill>
              <a:srgbClr val="2F7D84"/>
            </a:solidFill>
            <a:prstDash val="solid"/>
          </a:ln>
        </p:spPr>
      </p:sp>
      <p:sp>
        <p:nvSpPr>
          <p:cNvPr id="14" name="Text 11"/>
          <p:cNvSpPr txBox="1"/>
          <p:nvPr/>
        </p:nvSpPr>
        <p:spPr>
          <a:xfrm>
            <a:off x="7201814" y="3840480"/>
            <a:ext cx="1049731"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Firecrawl</a:t>
            </a:r>
            <a:endParaRPr lang="en-US" sz="1250" dirty="0"/>
          </a:p>
        </p:txBody>
      </p:sp>
      <p:sp>
        <p:nvSpPr>
          <p:cNvPr id="15" name="Shape 12"/>
          <p:cNvSpPr/>
          <p:nvPr/>
        </p:nvSpPr>
        <p:spPr>
          <a:xfrm>
            <a:off x="8379562" y="3840480"/>
            <a:ext cx="1386230" cy="457200"/>
          </a:xfrm>
          <a:prstGeom prst="roundRect">
            <a:avLst>
              <a:gd name="adj" fmla="val 44000"/>
            </a:avLst>
          </a:prstGeom>
          <a:solidFill>
            <a:srgbClr val="154E54"/>
          </a:solidFill>
          <a:ln w="12700">
            <a:solidFill>
              <a:srgbClr val="2F7D84"/>
            </a:solidFill>
            <a:prstDash val="solid"/>
          </a:ln>
        </p:spPr>
      </p:sp>
      <p:sp>
        <p:nvSpPr>
          <p:cNvPr id="16" name="Text 13"/>
          <p:cNvSpPr txBox="1"/>
          <p:nvPr/>
        </p:nvSpPr>
        <p:spPr>
          <a:xfrm>
            <a:off x="8379562" y="3840480"/>
            <a:ext cx="1386230"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Google Sheets</a:t>
            </a:r>
            <a:endParaRPr lang="en-US" sz="1250" dirty="0"/>
          </a:p>
        </p:txBody>
      </p:sp>
      <p:sp>
        <p:nvSpPr>
          <p:cNvPr id="17" name="Shape 14"/>
          <p:cNvSpPr/>
          <p:nvPr/>
        </p:nvSpPr>
        <p:spPr>
          <a:xfrm>
            <a:off x="9893808" y="3840480"/>
            <a:ext cx="1049731" cy="457200"/>
          </a:xfrm>
          <a:prstGeom prst="roundRect">
            <a:avLst>
              <a:gd name="adj" fmla="val 44000"/>
            </a:avLst>
          </a:prstGeom>
          <a:solidFill>
            <a:srgbClr val="154E54"/>
          </a:solidFill>
          <a:ln w="12700">
            <a:solidFill>
              <a:srgbClr val="2F7D84"/>
            </a:solidFill>
            <a:prstDash val="solid"/>
          </a:ln>
        </p:spPr>
      </p:sp>
      <p:sp>
        <p:nvSpPr>
          <p:cNvPr id="18" name="Text 15"/>
          <p:cNvSpPr txBox="1"/>
          <p:nvPr/>
        </p:nvSpPr>
        <p:spPr>
          <a:xfrm>
            <a:off x="9893808" y="3840480"/>
            <a:ext cx="1049731" cy="4572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Gmail API</a:t>
            </a:r>
            <a:endParaRPr lang="en-US" sz="1250" dirty="0"/>
          </a:p>
        </p:txBody>
      </p:sp>
      <p:sp>
        <p:nvSpPr>
          <p:cNvPr id="19" name="Text 16"/>
          <p:cNvSpPr txBox="1"/>
          <p:nvPr/>
        </p:nvSpPr>
        <p:spPr>
          <a:xfrm>
            <a:off x="640080" y="4754880"/>
            <a:ext cx="7315200" cy="365760"/>
          </a:xfrm>
          <a:prstGeom prst="rect">
            <a:avLst/>
          </a:prstGeom>
          <a:noFill/>
          <a:ln/>
        </p:spPr>
        <p:txBody>
          <a:bodyPr wrap="square" lIns="0" tIns="0" rIns="0" bIns="0" rtlCol="0" anchor="t"/>
          <a:lstStyle/>
          <a:p>
            <a:pPr indent="0" marL="0">
              <a:buNone/>
            </a:pPr>
            <a:r>
              <a:rPr lang="en-US" sz="1300" i="1" dirty="0">
                <a:solidFill>
                  <a:srgbClr val="F2B544"/>
                </a:solidFill>
                <a:latin typeface="Calibri" pitchFamily="34" charset="0"/>
                <a:ea typeface="Calibri" pitchFamily="34" charset="-122"/>
                <a:cs typeface="Calibri" pitchFamily="34" charset="-120"/>
              </a:rPr>
              <a:t>Tangkapan layar: mode simulasi, data fiktif (.example).</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Setup: satu orang atau banyak lead</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10</a:t>
            </a:r>
            <a:endParaRPr lang="en-US" sz="1000" dirty="0"/>
          </a:p>
        </p:txBody>
      </p:sp>
      <p:sp>
        <p:nvSpPr>
          <p:cNvPr id="6" name="Shape 3"/>
          <p:cNvSpPr/>
          <p:nvPr/>
        </p:nvSpPr>
        <p:spPr>
          <a:xfrm>
            <a:off x="585216" y="1316736"/>
            <a:ext cx="5968275" cy="495604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7" name="Image 0" descr="C:\DATA\02 - Kuliah\Agen Cerdas Enterprise\docs\gambar\setup.png">    </p:cNvPr>
          <p:cNvPicPr>
            <a:picLocks noChangeAspect="1"/>
          </p:cNvPicPr>
          <p:nvPr/>
        </p:nvPicPr>
        <p:blipFill>
          <a:blip r:embed="rId1"/>
          <a:stretch>
            <a:fillRect/>
          </a:stretch>
        </p:blipFill>
        <p:spPr>
          <a:xfrm>
            <a:off x="640080" y="1371600"/>
            <a:ext cx="5858547" cy="4846320"/>
          </a:xfrm>
          <a:prstGeom prst="rect">
            <a:avLst/>
          </a:prstGeom>
        </p:spPr>
      </p:pic>
      <p:sp>
        <p:nvSpPr>
          <p:cNvPr id="8" name="Shape 4"/>
          <p:cNvSpPr/>
          <p:nvPr/>
        </p:nvSpPr>
        <p:spPr>
          <a:xfrm>
            <a:off x="7315200" y="1508760"/>
            <a:ext cx="384048" cy="384048"/>
          </a:xfrm>
          <a:prstGeom prst="ellipse">
            <a:avLst/>
          </a:prstGeom>
          <a:solidFill>
            <a:srgbClr val="F2B544"/>
          </a:solidFill>
          <a:ln w="12700">
            <a:solidFill>
              <a:srgbClr val="F2B544"/>
            </a:solidFill>
            <a:prstDash val="solid"/>
          </a:ln>
        </p:spPr>
      </p:sp>
      <p:sp>
        <p:nvSpPr>
          <p:cNvPr id="9" name="Text 5"/>
          <p:cNvSpPr txBox="1"/>
          <p:nvPr/>
        </p:nvSpPr>
        <p:spPr>
          <a:xfrm>
            <a:off x="7315200" y="150876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7863840" y="1472184"/>
            <a:ext cx="379476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Pilih mode penerima</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Satu orang dikunci di tiga lapis: tambah lead, approval, dan scheduler.</a:t>
            </a:r>
            <a:endParaRPr lang="en-US" sz="1500" dirty="0"/>
          </a:p>
        </p:txBody>
      </p:sp>
      <p:sp>
        <p:nvSpPr>
          <p:cNvPr id="11" name="Shape 7"/>
          <p:cNvSpPr/>
          <p:nvPr/>
        </p:nvSpPr>
        <p:spPr>
          <a:xfrm>
            <a:off x="7315200" y="2697480"/>
            <a:ext cx="384048" cy="384048"/>
          </a:xfrm>
          <a:prstGeom prst="ellipse">
            <a:avLst/>
          </a:prstGeom>
          <a:solidFill>
            <a:srgbClr val="F2B544"/>
          </a:solidFill>
          <a:ln w="12700">
            <a:solidFill>
              <a:srgbClr val="F2B544"/>
            </a:solidFill>
            <a:prstDash val="solid"/>
          </a:ln>
        </p:spPr>
      </p:sp>
      <p:sp>
        <p:nvSpPr>
          <p:cNvPr id="12" name="Text 8"/>
          <p:cNvSpPr txBox="1"/>
          <p:nvPr/>
        </p:nvSpPr>
        <p:spPr>
          <a:xfrm>
            <a:off x="7315200" y="269748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7863840" y="2660904"/>
            <a:ext cx="379476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Brief campaign</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Tujuan, penawaran, CTA, personalisasi, dan anggaran LLM.</a:t>
            </a:r>
            <a:endParaRPr lang="en-US" sz="1500" dirty="0"/>
          </a:p>
        </p:txBody>
      </p:sp>
      <p:sp>
        <p:nvSpPr>
          <p:cNvPr id="14" name="Shape 10"/>
          <p:cNvSpPr/>
          <p:nvPr/>
        </p:nvSpPr>
        <p:spPr>
          <a:xfrm>
            <a:off x="7315200" y="3886200"/>
            <a:ext cx="384048" cy="384048"/>
          </a:xfrm>
          <a:prstGeom prst="ellipse">
            <a:avLst/>
          </a:prstGeom>
          <a:solidFill>
            <a:srgbClr val="F2B544"/>
          </a:solidFill>
          <a:ln w="12700">
            <a:solidFill>
              <a:srgbClr val="F2B544"/>
            </a:solidFill>
            <a:prstDash val="solid"/>
          </a:ln>
        </p:spPr>
      </p:sp>
      <p:sp>
        <p:nvSpPr>
          <p:cNvPr id="15" name="Text 11"/>
          <p:cNvSpPr txBox="1"/>
          <p:nvPr/>
        </p:nvSpPr>
        <p:spPr>
          <a:xfrm>
            <a:off x="7315200" y="388620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7863840" y="3849624"/>
            <a:ext cx="379476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Lead manual atau CSV</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Nama + deskripsi sudah cukup; email boleh menyusul.</a:t>
            </a:r>
            <a:endParaRPr lang="en-US" sz="1500" dirty="0"/>
          </a:p>
        </p:txBody>
      </p:sp>
      <p:sp>
        <p:nvSpPr>
          <p:cNvPr id="17" name="Shape 13"/>
          <p:cNvSpPr/>
          <p:nvPr/>
        </p:nvSpPr>
        <p:spPr>
          <a:xfrm>
            <a:off x="7315200" y="5074920"/>
            <a:ext cx="384048" cy="384048"/>
          </a:xfrm>
          <a:prstGeom prst="ellipse">
            <a:avLst/>
          </a:prstGeom>
          <a:solidFill>
            <a:srgbClr val="F2B544"/>
          </a:solidFill>
          <a:ln w="12700">
            <a:solidFill>
              <a:srgbClr val="F2B544"/>
            </a:solidFill>
            <a:prstDash val="solid"/>
          </a:ln>
        </p:spPr>
      </p:sp>
      <p:sp>
        <p:nvSpPr>
          <p:cNvPr id="18" name="Text 14"/>
          <p:cNvSpPr txBox="1"/>
          <p:nvPr/>
        </p:nvSpPr>
        <p:spPr>
          <a:xfrm>
            <a:off x="7315200" y="507492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4</a:t>
            </a:r>
            <a:endParaRPr lang="en-US" sz="1400" dirty="0"/>
          </a:p>
        </p:txBody>
      </p:sp>
      <p:sp>
        <p:nvSpPr>
          <p:cNvPr id="19" name="Text 15"/>
          <p:cNvSpPr txBox="1"/>
          <p:nvPr/>
        </p:nvSpPr>
        <p:spPr>
          <a:xfrm>
            <a:off x="7863840" y="5038344"/>
            <a:ext cx="379476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Kesiapan layanan</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Status OpenRouter, Apify, Firecrawl, Sheets, dan Gmail.</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Preview &amp; Approval: setiap klaim punya jejak bukti</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11</a:t>
            </a:r>
            <a:endParaRPr lang="en-US" sz="1000" dirty="0"/>
          </a:p>
        </p:txBody>
      </p:sp>
      <p:sp>
        <p:nvSpPr>
          <p:cNvPr id="6" name="Shape 3"/>
          <p:cNvSpPr/>
          <p:nvPr/>
        </p:nvSpPr>
        <p:spPr>
          <a:xfrm>
            <a:off x="585216" y="1271016"/>
            <a:ext cx="5422321" cy="504748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7" name="Image 0" descr="C:\DATA\02 - Kuliah\Agen Cerdas Enterprise\docs\gambar\preview-approval.png">    </p:cNvPr>
          <p:cNvPicPr>
            <a:picLocks noChangeAspect="1"/>
          </p:cNvPicPr>
          <p:nvPr/>
        </p:nvPicPr>
        <p:blipFill>
          <a:blip r:embed="rId1"/>
          <a:stretch>
            <a:fillRect/>
          </a:stretch>
        </p:blipFill>
        <p:spPr>
          <a:xfrm>
            <a:off x="640080" y="1325880"/>
            <a:ext cx="5312593" cy="4937760"/>
          </a:xfrm>
          <a:prstGeom prst="rect">
            <a:avLst/>
          </a:prstGeom>
        </p:spPr>
      </p:pic>
      <p:sp>
        <p:nvSpPr>
          <p:cNvPr id="8" name="Shape 4"/>
          <p:cNvSpPr/>
          <p:nvPr/>
        </p:nvSpPr>
        <p:spPr>
          <a:xfrm>
            <a:off x="6537960" y="1463040"/>
            <a:ext cx="384048" cy="384048"/>
          </a:xfrm>
          <a:prstGeom prst="ellipse">
            <a:avLst/>
          </a:prstGeom>
          <a:solidFill>
            <a:srgbClr val="F2B544"/>
          </a:solidFill>
          <a:ln w="12700">
            <a:solidFill>
              <a:srgbClr val="F2B544"/>
            </a:solidFill>
            <a:prstDash val="solid"/>
          </a:ln>
        </p:spPr>
      </p:sp>
      <p:sp>
        <p:nvSpPr>
          <p:cNvPr id="9" name="Text 5"/>
          <p:cNvSpPr txBox="1"/>
          <p:nvPr/>
        </p:nvSpPr>
        <p:spPr>
          <a:xfrm>
            <a:off x="6537960" y="146304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7086600" y="1426464"/>
            <a:ext cx="457200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Keputusan per lead</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Siap disetujui, perlu review, atau diblokir, lengkap dengan alasannya.</a:t>
            </a:r>
            <a:endParaRPr lang="en-US" sz="1500" dirty="0"/>
          </a:p>
        </p:txBody>
      </p:sp>
      <p:sp>
        <p:nvSpPr>
          <p:cNvPr id="11" name="Shape 7"/>
          <p:cNvSpPr/>
          <p:nvPr/>
        </p:nvSpPr>
        <p:spPr>
          <a:xfrm>
            <a:off x="6537960" y="2651760"/>
            <a:ext cx="384048" cy="384048"/>
          </a:xfrm>
          <a:prstGeom prst="ellipse">
            <a:avLst/>
          </a:prstGeom>
          <a:solidFill>
            <a:srgbClr val="F2B544"/>
          </a:solidFill>
          <a:ln w="12700">
            <a:solidFill>
              <a:srgbClr val="F2B544"/>
            </a:solidFill>
            <a:prstDash val="solid"/>
          </a:ln>
        </p:spPr>
      </p:sp>
      <p:sp>
        <p:nvSpPr>
          <p:cNvPr id="12" name="Text 8"/>
          <p:cNvSpPr txBox="1"/>
          <p:nvPr/>
        </p:nvSpPr>
        <p:spPr>
          <a:xfrm>
            <a:off x="6537960" y="265176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7086600" y="2615184"/>
            <a:ext cx="457200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Jejak bukti bernomor</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Fakta di email merujuk ke sumber CRM, Apify, atau web beserta waktunya.</a:t>
            </a:r>
            <a:endParaRPr lang="en-US" sz="1500" dirty="0"/>
          </a:p>
        </p:txBody>
      </p:sp>
      <p:sp>
        <p:nvSpPr>
          <p:cNvPr id="14" name="Shape 10"/>
          <p:cNvSpPr/>
          <p:nvPr/>
        </p:nvSpPr>
        <p:spPr>
          <a:xfrm>
            <a:off x="6537960" y="3840480"/>
            <a:ext cx="384048" cy="384048"/>
          </a:xfrm>
          <a:prstGeom prst="ellipse">
            <a:avLst/>
          </a:prstGeom>
          <a:solidFill>
            <a:srgbClr val="F2B544"/>
          </a:solidFill>
          <a:ln w="12700">
            <a:solidFill>
              <a:srgbClr val="F2B544"/>
            </a:solidFill>
            <a:prstDash val="solid"/>
          </a:ln>
        </p:spPr>
      </p:sp>
      <p:sp>
        <p:nvSpPr>
          <p:cNvPr id="15" name="Text 11"/>
          <p:cNvSpPr txBox="1"/>
          <p:nvPr/>
        </p:nvSpPr>
        <p:spPr>
          <a:xfrm>
            <a:off x="6537960" y="384048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7086600" y="3803904"/>
            <a:ext cx="457200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Approval terikat versi</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Edit draft membatalkan approval dan memicu pemeriksaan ulang.</a:t>
            </a:r>
            <a:endParaRPr lang="en-US" sz="1500" dirty="0"/>
          </a:p>
        </p:txBody>
      </p:sp>
      <p:sp>
        <p:nvSpPr>
          <p:cNvPr id="17" name="Shape 13"/>
          <p:cNvSpPr/>
          <p:nvPr/>
        </p:nvSpPr>
        <p:spPr>
          <a:xfrm>
            <a:off x="6537960" y="5029200"/>
            <a:ext cx="384048" cy="384048"/>
          </a:xfrm>
          <a:prstGeom prst="ellipse">
            <a:avLst/>
          </a:prstGeom>
          <a:solidFill>
            <a:srgbClr val="F2B544"/>
          </a:solidFill>
          <a:ln w="12700">
            <a:solidFill>
              <a:srgbClr val="F2B544"/>
            </a:solidFill>
            <a:prstDash val="solid"/>
          </a:ln>
        </p:spPr>
      </p:sp>
      <p:sp>
        <p:nvSpPr>
          <p:cNvPr id="18" name="Text 14"/>
          <p:cNvSpPr txBox="1"/>
          <p:nvPr/>
        </p:nvSpPr>
        <p:spPr>
          <a:xfrm>
            <a:off x="6537960" y="5029200"/>
            <a:ext cx="384048" cy="384048"/>
          </a:xfrm>
          <a:prstGeom prst="rect">
            <a:avLst/>
          </a:prstGeom>
          <a:noFill/>
          <a:ln/>
        </p:spPr>
        <p:txBody>
          <a:bodyPr wrap="square" lIns="0" tIns="0" rIns="0" bIns="0" rtlCol="0" anchor="ctr"/>
          <a:lstStyle/>
          <a:p>
            <a:pPr algn="ctr" indent="0" marL="0">
              <a:buNone/>
            </a:pPr>
            <a:r>
              <a:rPr lang="en-US" sz="1400" b="1" dirty="0">
                <a:solidFill>
                  <a:srgbClr val="0C3136"/>
                </a:solidFill>
                <a:latin typeface="Calibri" pitchFamily="34" charset="0"/>
                <a:ea typeface="Calibri" pitchFamily="34" charset="-122"/>
                <a:cs typeface="Calibri" pitchFamily="34" charset="-120"/>
              </a:rPr>
              <a:t>4</a:t>
            </a:r>
            <a:endParaRPr lang="en-US" sz="1400" dirty="0"/>
          </a:p>
        </p:txBody>
      </p:sp>
      <p:sp>
        <p:nvSpPr>
          <p:cNvPr id="19" name="Text 15"/>
          <p:cNvSpPr txBox="1"/>
          <p:nvPr/>
        </p:nvSpPr>
        <p:spPr>
          <a:xfrm>
            <a:off x="7086600" y="4992624"/>
            <a:ext cx="4572000" cy="1115568"/>
          </a:xfrm>
          <a:prstGeom prst="rect">
            <a:avLst/>
          </a:prstGeom>
          <a:noFill/>
          <a:ln/>
        </p:spPr>
        <p:txBody>
          <a:bodyPr wrap="square" lIns="0" tIns="0" rIns="0" bIns="0" rtlCol="0" anchor="t"/>
          <a:lstStyle/>
          <a:p>
            <a:pPr indent="0" marL="0">
              <a:spcAft>
                <a:spcPts val="200"/>
              </a:spcAft>
              <a:buNone/>
            </a:pPr>
            <a:r>
              <a:rPr lang="en-US" sz="1500" b="1" dirty="0">
                <a:solidFill>
                  <a:srgbClr val="17292C"/>
                </a:solidFill>
                <a:latin typeface="Calibri" pitchFamily="34" charset="0"/>
                <a:ea typeface="Calibri" pitchFamily="34" charset="-122"/>
                <a:cs typeface="Calibri" pitchFamily="34" charset="-120"/>
              </a:rPr>
              <a:t>Kirim terkendali</a:t>
            </a:r>
            <a:endParaRPr lang="en-US" sz="1500" dirty="0"/>
          </a:p>
          <a:p>
            <a:pPr indent="0" marL="0">
              <a:spcAft>
                <a:spcPts val="200"/>
              </a:spcAft>
              <a:buNone/>
            </a:pPr>
            <a:r>
              <a:rPr lang="en-US" sz="1250" dirty="0">
                <a:solidFill>
                  <a:srgbClr val="3F5558"/>
                </a:solidFill>
                <a:latin typeface="Calibri" pitchFamily="34" charset="0"/>
                <a:ea typeface="Calibri" pitchFamily="34" charset="-122"/>
                <a:cs typeface="Calibri" pitchFamily="34" charset="-120"/>
              </a:rPr>
              <a:t>Kunci kirim, allowlist, dan status SENT_UNKNOWN bila hasil tidak pasti.</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Monitor: agen, migrasi, dan pesan terlihat langsung</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12</a:t>
            </a:r>
            <a:endParaRPr lang="en-US" sz="1000" dirty="0"/>
          </a:p>
        </p:txBody>
      </p:sp>
      <p:sp>
        <p:nvSpPr>
          <p:cNvPr id="6" name="Shape 3"/>
          <p:cNvSpPr/>
          <p:nvPr/>
        </p:nvSpPr>
        <p:spPr>
          <a:xfrm>
            <a:off x="585216" y="1271016"/>
            <a:ext cx="5438246" cy="504748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7" name="Image 0" descr="C:\DATA\02 - Kuliah\Agen Cerdas Enterprise\docs\gambar\monitor.png">    </p:cNvPr>
          <p:cNvPicPr>
            <a:picLocks noChangeAspect="1"/>
          </p:cNvPicPr>
          <p:nvPr/>
        </p:nvPicPr>
        <p:blipFill>
          <a:blip r:embed="rId1"/>
          <a:stretch>
            <a:fillRect/>
          </a:stretch>
        </p:blipFill>
        <p:spPr>
          <a:xfrm>
            <a:off x="640080" y="1325880"/>
            <a:ext cx="5328518" cy="4937760"/>
          </a:xfrm>
          <a:prstGeom prst="rect">
            <a:avLst/>
          </a:prstGeom>
        </p:spPr>
      </p:pic>
      <p:sp>
        <p:nvSpPr>
          <p:cNvPr id="8" name="Text 4"/>
          <p:cNvSpPr txBox="1"/>
          <p:nvPr/>
        </p:nvSpPr>
        <p:spPr>
          <a:xfrm>
            <a:off x="6629400" y="1417320"/>
            <a:ext cx="2103120" cy="822960"/>
          </a:xfrm>
          <a:prstGeom prst="rect">
            <a:avLst/>
          </a:prstGeom>
          <a:noFill/>
          <a:ln/>
        </p:spPr>
        <p:txBody>
          <a:bodyPr wrap="square" lIns="0" tIns="0" rIns="0" bIns="0" rtlCol="0" anchor="ctr"/>
          <a:lstStyle/>
          <a:p>
            <a:pPr indent="0" marL="0">
              <a:buNone/>
            </a:pPr>
            <a:r>
              <a:rPr lang="en-US" sz="4000" b="1" dirty="0">
                <a:solidFill>
                  <a:srgbClr val="154E54"/>
                </a:solidFill>
                <a:latin typeface="Cambria" pitchFamily="34" charset="0"/>
                <a:ea typeface="Cambria" pitchFamily="34" charset="-122"/>
                <a:cs typeface="Cambria" pitchFamily="34" charset="-120"/>
              </a:rPr>
              <a:t>87</a:t>
            </a:r>
            <a:endParaRPr lang="en-US" sz="4000" dirty="0"/>
          </a:p>
        </p:txBody>
      </p:sp>
      <p:sp>
        <p:nvSpPr>
          <p:cNvPr id="9" name="Text 5"/>
          <p:cNvSpPr txBox="1"/>
          <p:nvPr/>
        </p:nvSpPr>
        <p:spPr>
          <a:xfrm>
            <a:off x="8732520" y="1417320"/>
            <a:ext cx="2926080" cy="822960"/>
          </a:xfrm>
          <a:prstGeom prst="rect">
            <a:avLst/>
          </a:prstGeom>
          <a:noFill/>
          <a:ln/>
        </p:spPr>
        <p:txBody>
          <a:bodyPr wrap="square" lIns="0" tIns="0" rIns="0" bIns="0" rtlCol="0" anchor="ctr"/>
          <a:lstStyle/>
          <a:p>
            <a:pPr indent="0" marL="0">
              <a:buNone/>
            </a:pPr>
            <a:r>
              <a:rPr lang="en-US" sz="1500" dirty="0">
                <a:solidFill>
                  <a:srgbClr val="3F5558"/>
                </a:solidFill>
                <a:latin typeface="Calibri" pitchFamily="34" charset="0"/>
                <a:ea typeface="Calibri" pitchFamily="34" charset="-122"/>
                <a:cs typeface="Calibri" pitchFamily="34" charset="-120"/>
              </a:rPr>
              <a:t>lead diputuskan</a:t>
            </a:r>
            <a:endParaRPr lang="en-US" sz="1500" dirty="0"/>
          </a:p>
        </p:txBody>
      </p:sp>
      <p:sp>
        <p:nvSpPr>
          <p:cNvPr id="10" name="Text 6"/>
          <p:cNvSpPr txBox="1"/>
          <p:nvPr/>
        </p:nvSpPr>
        <p:spPr>
          <a:xfrm>
            <a:off x="6629400" y="2606040"/>
            <a:ext cx="2103120" cy="822960"/>
          </a:xfrm>
          <a:prstGeom prst="rect">
            <a:avLst/>
          </a:prstGeom>
          <a:noFill/>
          <a:ln/>
        </p:spPr>
        <p:txBody>
          <a:bodyPr wrap="square" lIns="0" tIns="0" rIns="0" bIns="0" rtlCol="0" anchor="ctr"/>
          <a:lstStyle/>
          <a:p>
            <a:pPr indent="0" marL="0">
              <a:buNone/>
            </a:pPr>
            <a:r>
              <a:rPr lang="en-US" sz="4000" b="1" dirty="0">
                <a:solidFill>
                  <a:srgbClr val="154E54"/>
                </a:solidFill>
                <a:latin typeface="Cambria" pitchFamily="34" charset="0"/>
                <a:ea typeface="Cambria" pitchFamily="34" charset="-122"/>
                <a:cs typeface="Cambria" pitchFamily="34" charset="-120"/>
              </a:rPr>
              <a:t>13</a:t>
            </a:r>
            <a:endParaRPr lang="en-US" sz="4000" dirty="0"/>
          </a:p>
        </p:txBody>
      </p:sp>
      <p:sp>
        <p:nvSpPr>
          <p:cNvPr id="11" name="Text 7"/>
          <p:cNvSpPr txBox="1"/>
          <p:nvPr/>
        </p:nvSpPr>
        <p:spPr>
          <a:xfrm>
            <a:off x="8732520" y="2606040"/>
            <a:ext cx="2926080" cy="822960"/>
          </a:xfrm>
          <a:prstGeom prst="rect">
            <a:avLst/>
          </a:prstGeom>
          <a:noFill/>
          <a:ln/>
        </p:spPr>
        <p:txBody>
          <a:bodyPr wrap="square" lIns="0" tIns="0" rIns="0" bIns="0" rtlCol="0" anchor="ctr"/>
          <a:lstStyle/>
          <a:p>
            <a:pPr indent="0" marL="0">
              <a:buNone/>
            </a:pPr>
            <a:r>
              <a:rPr lang="en-US" sz="1500" dirty="0">
                <a:solidFill>
                  <a:srgbClr val="3F5558"/>
                </a:solidFill>
                <a:latin typeface="Calibri" pitchFamily="34" charset="0"/>
                <a:ea typeface="Calibri" pitchFamily="34" charset="-122"/>
                <a:cs typeface="Calibri" pitchFamily="34" charset="-120"/>
              </a:rPr>
              <a:t>menunggu review identitas</a:t>
            </a:r>
            <a:endParaRPr lang="en-US" sz="1500" dirty="0"/>
          </a:p>
        </p:txBody>
      </p:sp>
      <p:sp>
        <p:nvSpPr>
          <p:cNvPr id="12" name="Text 8"/>
          <p:cNvSpPr txBox="1"/>
          <p:nvPr/>
        </p:nvSpPr>
        <p:spPr>
          <a:xfrm>
            <a:off x="6629400" y="3794760"/>
            <a:ext cx="2103120" cy="822960"/>
          </a:xfrm>
          <a:prstGeom prst="rect">
            <a:avLst/>
          </a:prstGeom>
          <a:noFill/>
          <a:ln/>
        </p:spPr>
        <p:txBody>
          <a:bodyPr wrap="square" lIns="0" tIns="0" rIns="0" bIns="0" rtlCol="0" anchor="ctr"/>
          <a:lstStyle/>
          <a:p>
            <a:pPr indent="0" marL="0">
              <a:buNone/>
            </a:pPr>
            <a:r>
              <a:rPr lang="en-US" sz="4000" b="1" dirty="0">
                <a:solidFill>
                  <a:srgbClr val="154E54"/>
                </a:solidFill>
                <a:latin typeface="Cambria" pitchFamily="34" charset="0"/>
                <a:ea typeface="Cambria" pitchFamily="34" charset="-122"/>
                <a:cs typeface="Cambria" pitchFamily="34" charset="-120"/>
              </a:rPr>
              <a:t>1.012</a:t>
            </a:r>
            <a:endParaRPr lang="en-US" sz="4000" dirty="0"/>
          </a:p>
        </p:txBody>
      </p:sp>
      <p:sp>
        <p:nvSpPr>
          <p:cNvPr id="13" name="Text 9"/>
          <p:cNvSpPr txBox="1"/>
          <p:nvPr/>
        </p:nvSpPr>
        <p:spPr>
          <a:xfrm>
            <a:off x="8732520" y="3794760"/>
            <a:ext cx="2926080" cy="822960"/>
          </a:xfrm>
          <a:prstGeom prst="rect">
            <a:avLst/>
          </a:prstGeom>
          <a:noFill/>
          <a:ln/>
        </p:spPr>
        <p:txBody>
          <a:bodyPr wrap="square" lIns="0" tIns="0" rIns="0" bIns="0" rtlCol="0" anchor="ctr"/>
          <a:lstStyle/>
          <a:p>
            <a:pPr indent="0" marL="0">
              <a:buNone/>
            </a:pPr>
            <a:r>
              <a:rPr lang="en-US" sz="1500" dirty="0">
                <a:solidFill>
                  <a:srgbClr val="3F5558"/>
                </a:solidFill>
                <a:latin typeface="Calibri" pitchFamily="34" charset="0"/>
                <a:ea typeface="Calibri" pitchFamily="34" charset="-122"/>
                <a:cs typeface="Calibri" pitchFamily="34" charset="-120"/>
              </a:rPr>
              <a:t>pesan antaragen</a:t>
            </a:r>
            <a:endParaRPr lang="en-US" sz="1500" dirty="0"/>
          </a:p>
        </p:txBody>
      </p:sp>
      <p:sp>
        <p:nvSpPr>
          <p:cNvPr id="14" name="Text 10"/>
          <p:cNvSpPr txBox="1"/>
          <p:nvPr/>
        </p:nvSpPr>
        <p:spPr>
          <a:xfrm>
            <a:off x="6629400" y="4983480"/>
            <a:ext cx="2103120" cy="822960"/>
          </a:xfrm>
          <a:prstGeom prst="rect">
            <a:avLst/>
          </a:prstGeom>
          <a:noFill/>
          <a:ln/>
        </p:spPr>
        <p:txBody>
          <a:bodyPr wrap="square" lIns="0" tIns="0" rIns="0" bIns="0" rtlCol="0" anchor="ctr"/>
          <a:lstStyle/>
          <a:p>
            <a:pPr indent="0" marL="0">
              <a:buNone/>
            </a:pPr>
            <a:r>
              <a:rPr lang="en-US" sz="4000" b="1" dirty="0">
                <a:solidFill>
                  <a:srgbClr val="154E54"/>
                </a:solidFill>
                <a:latin typeface="Cambria" pitchFamily="34" charset="0"/>
                <a:ea typeface="Cambria" pitchFamily="34" charset="-122"/>
                <a:cs typeface="Cambria" pitchFamily="34" charset="-120"/>
              </a:rPr>
              <a:t>2</a:t>
            </a:r>
            <a:endParaRPr lang="en-US" sz="4000" dirty="0"/>
          </a:p>
        </p:txBody>
      </p:sp>
      <p:sp>
        <p:nvSpPr>
          <p:cNvPr id="15" name="Text 11"/>
          <p:cNvSpPr txBox="1"/>
          <p:nvPr/>
        </p:nvSpPr>
        <p:spPr>
          <a:xfrm>
            <a:off x="8732520" y="4983480"/>
            <a:ext cx="2926080" cy="822960"/>
          </a:xfrm>
          <a:prstGeom prst="rect">
            <a:avLst/>
          </a:prstGeom>
          <a:noFill/>
          <a:ln/>
        </p:spPr>
        <p:txBody>
          <a:bodyPr wrap="square" lIns="0" tIns="0" rIns="0" bIns="0" rtlCol="0" anchor="ctr"/>
          <a:lstStyle/>
          <a:p>
            <a:pPr indent="0" marL="0">
              <a:buNone/>
            </a:pPr>
            <a:r>
              <a:rPr lang="en-US" sz="1500" dirty="0">
                <a:solidFill>
                  <a:srgbClr val="3F5558"/>
                </a:solidFill>
                <a:latin typeface="Calibri" pitchFamily="34" charset="0"/>
                <a:ea typeface="Calibri" pitchFamily="34" charset="-122"/>
                <a:cs typeface="Calibri" pitchFamily="34" charset="-120"/>
              </a:rPr>
              <a:t>migrasi A → B</a:t>
            </a:r>
            <a:endParaRPr lang="en-US" sz="1500" dirty="0"/>
          </a:p>
        </p:txBody>
      </p:sp>
      <p:sp>
        <p:nvSpPr>
          <p:cNvPr id="16" name="Text 12"/>
          <p:cNvSpPr txBox="1"/>
          <p:nvPr/>
        </p:nvSpPr>
        <p:spPr>
          <a:xfrm>
            <a:off x="6629400" y="5897880"/>
            <a:ext cx="5029200" cy="320040"/>
          </a:xfrm>
          <a:prstGeom prst="rect">
            <a:avLst/>
          </a:prstGeom>
          <a:noFill/>
          <a:ln/>
        </p:spPr>
        <p:txBody>
          <a:bodyPr wrap="square" lIns="0" tIns="0" rIns="0" bIns="0" rtlCol="0" anchor="t"/>
          <a:lstStyle/>
          <a:p>
            <a:pPr indent="0" marL="0">
              <a:buNone/>
            </a:pPr>
            <a:r>
              <a:rPr lang="en-US" sz="1100" i="1" dirty="0">
                <a:solidFill>
                  <a:srgbClr val="5F7477"/>
                </a:solidFill>
                <a:latin typeface="Calibri" pitchFamily="34" charset="0"/>
                <a:ea typeface="Calibri" pitchFamily="34" charset="-122"/>
                <a:cs typeface="Calibri" pitchFamily="34" charset="-120"/>
              </a:rPr>
              <a:t>Simulasi 100 lead fiktif; 76 lolos, 14 review, 10 blokir.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Tetap berguna tanpa Gmail: mode draf</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13</a:t>
            </a:r>
            <a:endParaRPr lang="en-US" sz="1000" dirty="0"/>
          </a:p>
        </p:txBody>
      </p:sp>
      <p:sp>
        <p:nvSpPr>
          <p:cNvPr id="6" name="Shape 3"/>
          <p:cNvSpPr/>
          <p:nvPr/>
        </p:nvSpPr>
        <p:spPr>
          <a:xfrm>
            <a:off x="585216" y="1316736"/>
            <a:ext cx="6053328" cy="336219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7" name="Image 0" descr="C:\DATA\02 - Kuliah\Agen Cerdas Enterprise\docs\gambar\mode-draf-final.png">    </p:cNvPr>
          <p:cNvPicPr>
            <a:picLocks noChangeAspect="1"/>
          </p:cNvPicPr>
          <p:nvPr/>
        </p:nvPicPr>
        <p:blipFill>
          <a:blip r:embed="rId1"/>
          <a:stretch>
            <a:fillRect/>
          </a:stretch>
        </p:blipFill>
        <p:spPr>
          <a:xfrm>
            <a:off x="640080" y="1371600"/>
            <a:ext cx="5943600" cy="3252470"/>
          </a:xfrm>
          <a:prstGeom prst="rect">
            <a:avLst/>
          </a:prstGeom>
        </p:spPr>
      </p:pic>
      <p:sp>
        <p:nvSpPr>
          <p:cNvPr id="8" name="Shape 4"/>
          <p:cNvSpPr/>
          <p:nvPr/>
        </p:nvSpPr>
        <p:spPr>
          <a:xfrm>
            <a:off x="585216" y="4882896"/>
            <a:ext cx="6053328" cy="1027684"/>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9" name="Image 1" descr="C:\DATA\02 - Kuliah\Agen Cerdas Enterprise\docs\gambar\mode-draf-koneksi.png">    </p:cNvPr>
          <p:cNvPicPr>
            <a:picLocks noChangeAspect="1"/>
          </p:cNvPicPr>
          <p:nvPr/>
        </p:nvPicPr>
        <p:blipFill>
          <a:blip r:embed="rId2"/>
          <a:stretch>
            <a:fillRect/>
          </a:stretch>
        </p:blipFill>
        <p:spPr>
          <a:xfrm>
            <a:off x="640080" y="4937760"/>
            <a:ext cx="5943600" cy="917956"/>
          </a:xfrm>
          <a:prstGeom prst="rect">
            <a:avLst/>
          </a:prstGeom>
        </p:spPr>
      </p:pic>
      <p:sp>
        <p:nvSpPr>
          <p:cNvPr id="10" name="Shape 5"/>
          <p:cNvSpPr/>
          <p:nvPr/>
        </p:nvSpPr>
        <p:spPr>
          <a:xfrm>
            <a:off x="9546336" y="1316736"/>
            <a:ext cx="2349141" cy="4956048"/>
          </a:xfrm>
          <a:prstGeom prst="rect">
            <a:avLst/>
          </a:prstGeom>
          <a:solidFill>
            <a:srgbClr val="FFFFFF"/>
          </a:solidFill>
          <a:ln w="9525">
            <a:solidFill>
              <a:srgbClr val="D6E2E3"/>
            </a:solidFill>
            <a:prstDash val="solid"/>
          </a:ln>
          <a:effectLst>
            <a:outerShdw sx="100000" sy="100000" kx="0" ky="0" algn="bl" rotWithShape="0" blurRad="101600" dist="38100" dir="5400000">
              <a:srgbClr val="0C3136">
                <a:alpha val="18000"/>
              </a:srgbClr>
            </a:outerShdw>
          </a:effectLst>
        </p:spPr>
      </p:sp>
      <p:pic>
        <p:nvPicPr>
          <p:cNvPr id="11" name="Image 2" descr="C:\DATA\02 - Kuliah\Agen Cerdas Enterprise\presentasi\aset\mobile-atas.png">    </p:cNvPr>
          <p:cNvPicPr>
            <a:picLocks noChangeAspect="1"/>
          </p:cNvPicPr>
          <p:nvPr/>
        </p:nvPicPr>
        <p:blipFill>
          <a:blip r:embed="rId3"/>
          <a:stretch>
            <a:fillRect/>
          </a:stretch>
        </p:blipFill>
        <p:spPr>
          <a:xfrm>
            <a:off x="9601200" y="1371600"/>
            <a:ext cx="2239413" cy="4846320"/>
          </a:xfrm>
          <a:prstGeom prst="rect">
            <a:avLst/>
          </a:prstGeom>
        </p:spPr>
      </p:pic>
      <p:sp>
        <p:nvSpPr>
          <p:cNvPr id="12" name="Text 6"/>
          <p:cNvSpPr txBox="1"/>
          <p:nvPr/>
        </p:nvSpPr>
        <p:spPr>
          <a:xfrm>
            <a:off x="6903720" y="1463040"/>
            <a:ext cx="2468880" cy="4114800"/>
          </a:xfrm>
          <a:prstGeom prst="rect">
            <a:avLst/>
          </a:prstGeom>
          <a:noFill/>
          <a:ln/>
        </p:spPr>
        <p:txBody>
          <a:bodyPr wrap="square" lIns="0" tIns="0" rIns="0" bIns="0" rtlCol="0" anchor="t"/>
          <a:lstStyle/>
          <a:p>
            <a:pPr indent="0" marL="0">
              <a:buNone/>
            </a:pPr>
            <a:r>
              <a:rPr lang="en-US" sz="1700" b="1" dirty="0">
                <a:solidFill>
                  <a:srgbClr val="17292C"/>
                </a:solidFill>
                <a:latin typeface="Calibri" pitchFamily="34" charset="0"/>
                <a:ea typeface="Calibri" pitchFamily="34" charset="-122"/>
                <a:cs typeface="Calibri" pitchFamily="34" charset="-120"/>
              </a:rPr>
              <a:t>Finalkan, salin, unduh</a:t>
            </a:r>
            <a:endParaRPr lang="en-US" sz="1700" dirty="0"/>
          </a:p>
          <a:p>
            <a:pPr indent="0" marL="0">
              <a:buNone/>
            </a:pPr>
            <a:r>
              <a:rPr lang="en-US" sz="1350" dirty="0">
                <a:solidFill>
                  <a:srgbClr val="3F5558"/>
                </a:solidFill>
                <a:latin typeface="Calibri" pitchFamily="34" charset="0"/>
                <a:ea typeface="Calibri" pitchFamily="34" charset="-122"/>
                <a:cs typeface="Calibri" pitchFamily="34" charset="-120"/>
              </a:rPr>
              <a:t>Tanpa antrean kirim; email penerima opsional.</a:t>
            </a:r>
            <a:endParaRPr lang="en-US" sz="1700" dirty="0"/>
          </a:p>
          <a:p>
            <a:pPr indent="0" marL="0">
              <a:buNone/>
            </a:pPr>
            <a:r>
              <a:rPr lang="en-US" sz="800" dirty="0">
                <a:solidFill>
                  <a:srgbClr val="17292C"/>
                </a:solidFill>
                <a:latin typeface="Calibri" pitchFamily="34" charset="0"/>
                <a:ea typeface="Calibri" pitchFamily="34" charset="-122"/>
                <a:cs typeface="Calibri" pitchFamily="34" charset="-120"/>
              </a:rPr>
              <a:t> </a:t>
            </a:r>
            <a:endParaRPr lang="en-US" sz="1700" dirty="0"/>
          </a:p>
          <a:p>
            <a:pPr indent="0" marL="0">
              <a:buNone/>
            </a:pPr>
            <a:r>
              <a:rPr lang="en-US" sz="1700" b="1" dirty="0">
                <a:solidFill>
                  <a:srgbClr val="17292C"/>
                </a:solidFill>
                <a:latin typeface="Calibri" pitchFamily="34" charset="0"/>
                <a:ea typeface="Calibri" pitchFamily="34" charset="-122"/>
                <a:cs typeface="Calibri" pitchFamily="34" charset="-120"/>
              </a:rPr>
              <a:t>Responsif</a:t>
            </a:r>
            <a:endParaRPr lang="en-US" sz="1700" dirty="0"/>
          </a:p>
          <a:p>
            <a:pPr indent="0" marL="0">
              <a:buNone/>
            </a:pPr>
            <a:r>
              <a:rPr lang="en-US" sz="1350" dirty="0">
                <a:solidFill>
                  <a:srgbClr val="3F5558"/>
                </a:solidFill>
                <a:latin typeface="Calibri" pitchFamily="34" charset="0"/>
                <a:ea typeface="Calibri" pitchFamily="34" charset="-122"/>
                <a:cs typeface="Calibri" pitchFamily="34" charset="-120"/>
              </a:rPr>
              <a:t>Diuji pada 1440 px dan 390 px.</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Keamanan berlapis, diuji otomatis</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14</a:t>
            </a:r>
            <a:endParaRPr lang="en-US" sz="1000" dirty="0"/>
          </a:p>
        </p:txBody>
      </p:sp>
      <p:sp>
        <p:nvSpPr>
          <p:cNvPr id="6" name="Shape 3"/>
          <p:cNvSpPr/>
          <p:nvPr/>
        </p:nvSpPr>
        <p:spPr>
          <a:xfrm>
            <a:off x="548640" y="1417320"/>
            <a:ext cx="3566160" cy="2103120"/>
          </a:xfrm>
          <a:prstGeom prst="roundRect">
            <a:avLst>
              <a:gd name="adj" fmla="val 3478"/>
            </a:avLst>
          </a:prstGeom>
          <a:solidFill>
            <a:srgbClr val="EDF5F5"/>
          </a:solidFill>
          <a:ln w="12700">
            <a:solidFill>
              <a:srgbClr val="EDF5F5"/>
            </a:solidFill>
            <a:prstDash val="solid"/>
          </a:ln>
        </p:spPr>
      </p:sp>
      <p:sp>
        <p:nvSpPr>
          <p:cNvPr id="7" name="Shape 4"/>
          <p:cNvSpPr/>
          <p:nvPr/>
        </p:nvSpPr>
        <p:spPr>
          <a:xfrm>
            <a:off x="804672" y="1673352"/>
            <a:ext cx="566928" cy="566928"/>
          </a:xfrm>
          <a:prstGeom prst="ellipse">
            <a:avLst/>
          </a:prstGeom>
          <a:solidFill>
            <a:srgbClr val="154E54"/>
          </a:solidFill>
          <a:ln w="12700">
            <a:solidFill>
              <a:srgbClr val="154E54"/>
            </a:solidFill>
            <a:prstDash val="solid"/>
          </a:ln>
        </p:spPr>
      </p:sp>
      <p:pic>
        <p:nvPicPr>
          <p:cNvPr id="8" name="Image 0" descr="preencoded.png">    </p:cNvPr>
          <p:cNvPicPr>
            <a:picLocks noChangeAspect="1"/>
          </p:cNvPicPr>
          <p:nvPr/>
        </p:nvPicPr>
        <p:blipFill>
          <a:blip r:embed="rId1"/>
          <a:stretch>
            <a:fillRect/>
          </a:stretch>
        </p:blipFill>
        <p:spPr>
          <a:xfrm>
            <a:off x="940735" y="1809415"/>
            <a:ext cx="294803" cy="294803"/>
          </a:xfrm>
          <a:prstGeom prst="rect">
            <a:avLst/>
          </a:prstGeom>
        </p:spPr>
      </p:pic>
      <p:sp>
        <p:nvSpPr>
          <p:cNvPr id="9" name="Text 5"/>
          <p:cNvSpPr txBox="1"/>
          <p:nvPr/>
        </p:nvSpPr>
        <p:spPr>
          <a:xfrm>
            <a:off x="1508760" y="1673352"/>
            <a:ext cx="2468880" cy="566928"/>
          </a:xfrm>
          <a:prstGeom prst="rect">
            <a:avLst/>
          </a:prstGeom>
          <a:noFill/>
          <a:ln/>
        </p:spPr>
        <p:txBody>
          <a:bodyPr wrap="square" lIns="0" tIns="0" rIns="0" bIns="0" rtlCol="0" anchor="ctr"/>
          <a:lstStyle/>
          <a:p>
            <a:pPr indent="0" marL="0">
              <a:buNone/>
            </a:pPr>
            <a:r>
              <a:rPr lang="en-US" sz="1700" b="1" dirty="0">
                <a:solidFill>
                  <a:srgbClr val="17292C"/>
                </a:solidFill>
                <a:latin typeface="Cambria" pitchFamily="34" charset="0"/>
                <a:ea typeface="Cambria" pitchFamily="34" charset="-122"/>
                <a:cs typeface="Cambria" pitchFamily="34" charset="-120"/>
              </a:rPr>
              <a:t>Identitas &amp; izin</a:t>
            </a:r>
            <a:endParaRPr lang="en-US" sz="1700" dirty="0"/>
          </a:p>
        </p:txBody>
      </p:sp>
      <p:sp>
        <p:nvSpPr>
          <p:cNvPr id="10" name="Text 6"/>
          <p:cNvSpPr txBox="1"/>
          <p:nvPr/>
        </p:nvSpPr>
        <p:spPr>
          <a:xfrm>
            <a:off x="804672" y="2377440"/>
            <a:ext cx="3108960" cy="7772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Hanya kontak berizin dan bukan suppression; kredensial tidak masuk spreadsheet.</a:t>
            </a:r>
            <a:endParaRPr lang="en-US" sz="1300" dirty="0"/>
          </a:p>
        </p:txBody>
      </p:sp>
      <p:sp>
        <p:nvSpPr>
          <p:cNvPr id="11" name="Text 7"/>
          <p:cNvSpPr txBox="1"/>
          <p:nvPr/>
        </p:nvSpPr>
        <p:spPr>
          <a:xfrm>
            <a:off x="804672" y="3108960"/>
            <a:ext cx="3108960" cy="292608"/>
          </a:xfrm>
          <a:prstGeom prst="rect">
            <a:avLst/>
          </a:prstGeom>
          <a:noFill/>
          <a:ln/>
        </p:spPr>
        <p:txBody>
          <a:bodyPr wrap="square" lIns="0" tIns="0" rIns="0" bIns="0" rtlCol="0" anchor="t"/>
          <a:lstStyle/>
          <a:p>
            <a:pPr indent="0" marL="0">
              <a:buNone/>
            </a:pPr>
            <a:r>
              <a:rPr lang="en-US" sz="1200" b="1" dirty="0">
                <a:solidFill>
                  <a:srgbClr val="1E6F48"/>
                </a:solidFill>
                <a:latin typeface="Calibri" pitchFamily="34" charset="0"/>
                <a:ea typeface="Calibri" pitchFamily="34" charset="-122"/>
                <a:cs typeface="Calibri" pitchFamily="34" charset="-120"/>
              </a:rPr>
              <a:t>Diuji otomatis</a:t>
            </a:r>
            <a:endParaRPr lang="en-US" sz="1200" dirty="0"/>
          </a:p>
        </p:txBody>
      </p:sp>
      <p:sp>
        <p:nvSpPr>
          <p:cNvPr id="12" name="Shape 8"/>
          <p:cNvSpPr/>
          <p:nvPr/>
        </p:nvSpPr>
        <p:spPr>
          <a:xfrm>
            <a:off x="4297680" y="1417320"/>
            <a:ext cx="3566160" cy="2103120"/>
          </a:xfrm>
          <a:prstGeom prst="roundRect">
            <a:avLst>
              <a:gd name="adj" fmla="val 3478"/>
            </a:avLst>
          </a:prstGeom>
          <a:solidFill>
            <a:srgbClr val="EDF5F5"/>
          </a:solidFill>
          <a:ln w="12700">
            <a:solidFill>
              <a:srgbClr val="EDF5F5"/>
            </a:solidFill>
            <a:prstDash val="solid"/>
          </a:ln>
        </p:spPr>
      </p:sp>
      <p:sp>
        <p:nvSpPr>
          <p:cNvPr id="13" name="Shape 9"/>
          <p:cNvSpPr/>
          <p:nvPr/>
        </p:nvSpPr>
        <p:spPr>
          <a:xfrm>
            <a:off x="4553712" y="1673352"/>
            <a:ext cx="566928" cy="566928"/>
          </a:xfrm>
          <a:prstGeom prst="ellipse">
            <a:avLst/>
          </a:prstGeom>
          <a:solidFill>
            <a:srgbClr val="154E54"/>
          </a:solidFill>
          <a:ln w="12700">
            <a:solidFill>
              <a:srgbClr val="154E54"/>
            </a:solidFill>
            <a:prstDash val="solid"/>
          </a:ln>
        </p:spPr>
      </p:sp>
      <p:pic>
        <p:nvPicPr>
          <p:cNvPr id="14" name="Image 1" descr="preencoded.png">    </p:cNvPr>
          <p:cNvPicPr>
            <a:picLocks noChangeAspect="1"/>
          </p:cNvPicPr>
          <p:nvPr/>
        </p:nvPicPr>
        <p:blipFill>
          <a:blip r:embed="rId2"/>
          <a:stretch>
            <a:fillRect/>
          </a:stretch>
        </p:blipFill>
        <p:spPr>
          <a:xfrm>
            <a:off x="4689775" y="1809415"/>
            <a:ext cx="294803" cy="294803"/>
          </a:xfrm>
          <a:prstGeom prst="rect">
            <a:avLst/>
          </a:prstGeom>
        </p:spPr>
      </p:pic>
      <p:sp>
        <p:nvSpPr>
          <p:cNvPr id="15" name="Text 10"/>
          <p:cNvSpPr txBox="1"/>
          <p:nvPr/>
        </p:nvSpPr>
        <p:spPr>
          <a:xfrm>
            <a:off x="5257800" y="1673352"/>
            <a:ext cx="2468880" cy="566928"/>
          </a:xfrm>
          <a:prstGeom prst="rect">
            <a:avLst/>
          </a:prstGeom>
          <a:noFill/>
          <a:ln/>
        </p:spPr>
        <p:txBody>
          <a:bodyPr wrap="square" lIns="0" tIns="0" rIns="0" bIns="0" rtlCol="0" anchor="ctr"/>
          <a:lstStyle/>
          <a:p>
            <a:pPr indent="0" marL="0">
              <a:buNone/>
            </a:pPr>
            <a:r>
              <a:rPr lang="en-US" sz="1700" b="1" dirty="0">
                <a:solidFill>
                  <a:srgbClr val="17292C"/>
                </a:solidFill>
                <a:latin typeface="Cambria" pitchFamily="34" charset="0"/>
                <a:ea typeface="Cambria" pitchFamily="34" charset="-122"/>
                <a:cs typeface="Cambria" pitchFamily="34" charset="-120"/>
              </a:rPr>
              <a:t>Konten web</a:t>
            </a:r>
            <a:endParaRPr lang="en-US" sz="1700" dirty="0"/>
          </a:p>
        </p:txBody>
      </p:sp>
      <p:sp>
        <p:nvSpPr>
          <p:cNvPr id="16" name="Text 11"/>
          <p:cNvSpPr txBox="1"/>
          <p:nvPr/>
        </p:nvSpPr>
        <p:spPr>
          <a:xfrm>
            <a:off x="4553712" y="2377440"/>
            <a:ext cx="3108960" cy="7772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Instruksi mencurigakan dibuang dan dicatat sebagai insiden.</a:t>
            </a:r>
            <a:endParaRPr lang="en-US" sz="1300" dirty="0"/>
          </a:p>
        </p:txBody>
      </p:sp>
      <p:sp>
        <p:nvSpPr>
          <p:cNvPr id="17" name="Text 12"/>
          <p:cNvSpPr txBox="1"/>
          <p:nvPr/>
        </p:nvSpPr>
        <p:spPr>
          <a:xfrm>
            <a:off x="4553712" y="3108960"/>
            <a:ext cx="3108960" cy="292608"/>
          </a:xfrm>
          <a:prstGeom prst="rect">
            <a:avLst/>
          </a:prstGeom>
          <a:noFill/>
          <a:ln/>
        </p:spPr>
        <p:txBody>
          <a:bodyPr wrap="square" lIns="0" tIns="0" rIns="0" bIns="0" rtlCol="0" anchor="t"/>
          <a:lstStyle/>
          <a:p>
            <a:pPr indent="0" marL="0">
              <a:buNone/>
            </a:pPr>
            <a:r>
              <a:rPr lang="en-US" sz="1200" b="1" dirty="0">
                <a:solidFill>
                  <a:srgbClr val="1E6F48"/>
                </a:solidFill>
                <a:latin typeface="Calibri" pitchFamily="34" charset="0"/>
                <a:ea typeface="Calibri" pitchFamily="34" charset="-122"/>
                <a:cs typeface="Calibri" pitchFamily="34" charset="-120"/>
              </a:rPr>
              <a:t>Diuji otomatis</a:t>
            </a:r>
            <a:endParaRPr lang="en-US" sz="1200" dirty="0"/>
          </a:p>
        </p:txBody>
      </p:sp>
      <p:sp>
        <p:nvSpPr>
          <p:cNvPr id="18" name="Shape 13"/>
          <p:cNvSpPr/>
          <p:nvPr/>
        </p:nvSpPr>
        <p:spPr>
          <a:xfrm>
            <a:off x="8046720" y="1417320"/>
            <a:ext cx="3566160" cy="2103120"/>
          </a:xfrm>
          <a:prstGeom prst="roundRect">
            <a:avLst>
              <a:gd name="adj" fmla="val 3478"/>
            </a:avLst>
          </a:prstGeom>
          <a:solidFill>
            <a:srgbClr val="EDF5F5"/>
          </a:solidFill>
          <a:ln w="12700">
            <a:solidFill>
              <a:srgbClr val="EDF5F5"/>
            </a:solidFill>
            <a:prstDash val="solid"/>
          </a:ln>
        </p:spPr>
      </p:sp>
      <p:sp>
        <p:nvSpPr>
          <p:cNvPr id="19" name="Shape 14"/>
          <p:cNvSpPr/>
          <p:nvPr/>
        </p:nvSpPr>
        <p:spPr>
          <a:xfrm>
            <a:off x="8302752" y="1673352"/>
            <a:ext cx="566928" cy="566928"/>
          </a:xfrm>
          <a:prstGeom prst="ellipse">
            <a:avLst/>
          </a:prstGeom>
          <a:solidFill>
            <a:srgbClr val="154E54"/>
          </a:solidFill>
          <a:ln w="12700">
            <a:solidFill>
              <a:srgbClr val="154E54"/>
            </a:solidFill>
            <a:prstDash val="solid"/>
          </a:ln>
        </p:spPr>
      </p:sp>
      <p:pic>
        <p:nvPicPr>
          <p:cNvPr id="20" name="Image 2" descr="preencoded.png">    </p:cNvPr>
          <p:cNvPicPr>
            <a:picLocks noChangeAspect="1"/>
          </p:cNvPicPr>
          <p:nvPr/>
        </p:nvPicPr>
        <p:blipFill>
          <a:blip r:embed="rId3"/>
          <a:stretch>
            <a:fillRect/>
          </a:stretch>
        </p:blipFill>
        <p:spPr>
          <a:xfrm>
            <a:off x="8438815" y="1809415"/>
            <a:ext cx="294803" cy="294803"/>
          </a:xfrm>
          <a:prstGeom prst="rect">
            <a:avLst/>
          </a:prstGeom>
        </p:spPr>
      </p:pic>
      <p:sp>
        <p:nvSpPr>
          <p:cNvPr id="21" name="Text 15"/>
          <p:cNvSpPr txBox="1"/>
          <p:nvPr/>
        </p:nvSpPr>
        <p:spPr>
          <a:xfrm>
            <a:off x="9006840" y="1673352"/>
            <a:ext cx="2468880" cy="566928"/>
          </a:xfrm>
          <a:prstGeom prst="rect">
            <a:avLst/>
          </a:prstGeom>
          <a:noFill/>
          <a:ln/>
        </p:spPr>
        <p:txBody>
          <a:bodyPr wrap="square" lIns="0" tIns="0" rIns="0" bIns="0" rtlCol="0" anchor="ctr"/>
          <a:lstStyle/>
          <a:p>
            <a:pPr indent="0" marL="0">
              <a:buNone/>
            </a:pPr>
            <a:r>
              <a:rPr lang="en-US" sz="1700" b="1" dirty="0">
                <a:solidFill>
                  <a:srgbClr val="17292C"/>
                </a:solidFill>
                <a:latin typeface="Cambria" pitchFamily="34" charset="0"/>
                <a:ea typeface="Cambria" pitchFamily="34" charset="-122"/>
                <a:cs typeface="Cambria" pitchFamily="34" charset="-120"/>
              </a:rPr>
              <a:t>Approval &amp; jadwal</a:t>
            </a:r>
            <a:endParaRPr lang="en-US" sz="1700" dirty="0"/>
          </a:p>
        </p:txBody>
      </p:sp>
      <p:sp>
        <p:nvSpPr>
          <p:cNvPr id="22" name="Text 16"/>
          <p:cNvSpPr txBox="1"/>
          <p:nvPr/>
        </p:nvSpPr>
        <p:spPr>
          <a:xfrm>
            <a:off x="8302752" y="2377440"/>
            <a:ext cx="3108960" cy="7772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Edit membatalkan approval; suppression dicek ulang sebelum kirim.</a:t>
            </a:r>
            <a:endParaRPr lang="en-US" sz="1300" dirty="0"/>
          </a:p>
        </p:txBody>
      </p:sp>
      <p:sp>
        <p:nvSpPr>
          <p:cNvPr id="23" name="Text 17"/>
          <p:cNvSpPr txBox="1"/>
          <p:nvPr/>
        </p:nvSpPr>
        <p:spPr>
          <a:xfrm>
            <a:off x="8302752" y="3108960"/>
            <a:ext cx="3108960" cy="292608"/>
          </a:xfrm>
          <a:prstGeom prst="rect">
            <a:avLst/>
          </a:prstGeom>
          <a:noFill/>
          <a:ln/>
        </p:spPr>
        <p:txBody>
          <a:bodyPr wrap="square" lIns="0" tIns="0" rIns="0" bIns="0" rtlCol="0" anchor="t"/>
          <a:lstStyle/>
          <a:p>
            <a:pPr indent="0" marL="0">
              <a:buNone/>
            </a:pPr>
            <a:r>
              <a:rPr lang="en-US" sz="1200" b="1" dirty="0">
                <a:solidFill>
                  <a:srgbClr val="1E6F48"/>
                </a:solidFill>
                <a:latin typeface="Calibri" pitchFamily="34" charset="0"/>
                <a:ea typeface="Calibri" pitchFamily="34" charset="-122"/>
                <a:cs typeface="Calibri" pitchFamily="34" charset="-120"/>
              </a:rPr>
              <a:t>Diuji otomatis</a:t>
            </a:r>
            <a:endParaRPr lang="en-US" sz="1200" dirty="0"/>
          </a:p>
        </p:txBody>
      </p:sp>
      <p:sp>
        <p:nvSpPr>
          <p:cNvPr id="24" name="Shape 18"/>
          <p:cNvSpPr/>
          <p:nvPr/>
        </p:nvSpPr>
        <p:spPr>
          <a:xfrm>
            <a:off x="548640" y="3749040"/>
            <a:ext cx="3566160" cy="2103120"/>
          </a:xfrm>
          <a:prstGeom prst="roundRect">
            <a:avLst>
              <a:gd name="adj" fmla="val 3478"/>
            </a:avLst>
          </a:prstGeom>
          <a:solidFill>
            <a:srgbClr val="EDF5F5"/>
          </a:solidFill>
          <a:ln w="12700">
            <a:solidFill>
              <a:srgbClr val="EDF5F5"/>
            </a:solidFill>
            <a:prstDash val="solid"/>
          </a:ln>
        </p:spPr>
      </p:sp>
      <p:sp>
        <p:nvSpPr>
          <p:cNvPr id="25" name="Shape 19"/>
          <p:cNvSpPr/>
          <p:nvPr/>
        </p:nvSpPr>
        <p:spPr>
          <a:xfrm>
            <a:off x="804672" y="4005072"/>
            <a:ext cx="566928" cy="566928"/>
          </a:xfrm>
          <a:prstGeom prst="ellipse">
            <a:avLst/>
          </a:prstGeom>
          <a:solidFill>
            <a:srgbClr val="154E54"/>
          </a:solidFill>
          <a:ln w="12700">
            <a:solidFill>
              <a:srgbClr val="154E54"/>
            </a:solidFill>
            <a:prstDash val="solid"/>
          </a:ln>
        </p:spPr>
      </p:sp>
      <p:pic>
        <p:nvPicPr>
          <p:cNvPr id="26" name="Image 3" descr="preencoded.png">    </p:cNvPr>
          <p:cNvPicPr>
            <a:picLocks noChangeAspect="1"/>
          </p:cNvPicPr>
          <p:nvPr/>
        </p:nvPicPr>
        <p:blipFill>
          <a:blip r:embed="rId4"/>
          <a:stretch>
            <a:fillRect/>
          </a:stretch>
        </p:blipFill>
        <p:spPr>
          <a:xfrm>
            <a:off x="940735" y="4141135"/>
            <a:ext cx="294803" cy="294803"/>
          </a:xfrm>
          <a:prstGeom prst="rect">
            <a:avLst/>
          </a:prstGeom>
        </p:spPr>
      </p:pic>
      <p:sp>
        <p:nvSpPr>
          <p:cNvPr id="27" name="Text 20"/>
          <p:cNvSpPr txBox="1"/>
          <p:nvPr/>
        </p:nvSpPr>
        <p:spPr>
          <a:xfrm>
            <a:off x="1508760" y="4005072"/>
            <a:ext cx="2468880" cy="566928"/>
          </a:xfrm>
          <a:prstGeom prst="rect">
            <a:avLst/>
          </a:prstGeom>
          <a:noFill/>
          <a:ln/>
        </p:spPr>
        <p:txBody>
          <a:bodyPr wrap="square" lIns="0" tIns="0" rIns="0" bIns="0" rtlCol="0" anchor="ctr"/>
          <a:lstStyle/>
          <a:p>
            <a:pPr indent="0" marL="0">
              <a:buNone/>
            </a:pPr>
            <a:r>
              <a:rPr lang="en-US" sz="1700" b="1" dirty="0">
                <a:solidFill>
                  <a:srgbClr val="17292C"/>
                </a:solidFill>
                <a:latin typeface="Cambria" pitchFamily="34" charset="0"/>
                <a:ea typeface="Cambria" pitchFamily="34" charset="-122"/>
                <a:cs typeface="Cambria" pitchFamily="34" charset="-120"/>
              </a:rPr>
              <a:t>Task ulang &amp; migrasi</a:t>
            </a:r>
            <a:endParaRPr lang="en-US" sz="1700" dirty="0"/>
          </a:p>
        </p:txBody>
      </p:sp>
      <p:sp>
        <p:nvSpPr>
          <p:cNvPr id="28" name="Text 21"/>
          <p:cNvSpPr txBox="1"/>
          <p:nvPr/>
        </p:nvSpPr>
        <p:spPr>
          <a:xfrm>
            <a:off x="804672" y="4709160"/>
            <a:ext cx="3108960" cy="7772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Kunci kirim mencegah duplikasi; generation lama ditolak.</a:t>
            </a:r>
            <a:endParaRPr lang="en-US" sz="1300" dirty="0"/>
          </a:p>
        </p:txBody>
      </p:sp>
      <p:sp>
        <p:nvSpPr>
          <p:cNvPr id="29" name="Text 22"/>
          <p:cNvSpPr txBox="1"/>
          <p:nvPr/>
        </p:nvSpPr>
        <p:spPr>
          <a:xfrm>
            <a:off x="804672" y="5440680"/>
            <a:ext cx="3108960" cy="292608"/>
          </a:xfrm>
          <a:prstGeom prst="rect">
            <a:avLst/>
          </a:prstGeom>
          <a:noFill/>
          <a:ln/>
        </p:spPr>
        <p:txBody>
          <a:bodyPr wrap="square" lIns="0" tIns="0" rIns="0" bIns="0" rtlCol="0" anchor="t"/>
          <a:lstStyle/>
          <a:p>
            <a:pPr indent="0" marL="0">
              <a:buNone/>
            </a:pPr>
            <a:r>
              <a:rPr lang="en-US" sz="1200" b="1" dirty="0">
                <a:solidFill>
                  <a:srgbClr val="1E6F48"/>
                </a:solidFill>
                <a:latin typeface="Calibri" pitchFamily="34" charset="0"/>
                <a:ea typeface="Calibri" pitchFamily="34" charset="-122"/>
                <a:cs typeface="Calibri" pitchFamily="34" charset="-120"/>
              </a:rPr>
              <a:t>Diuji otomatis</a:t>
            </a:r>
            <a:endParaRPr lang="en-US" sz="1200" dirty="0"/>
          </a:p>
        </p:txBody>
      </p:sp>
      <p:sp>
        <p:nvSpPr>
          <p:cNvPr id="30" name="Shape 23"/>
          <p:cNvSpPr/>
          <p:nvPr/>
        </p:nvSpPr>
        <p:spPr>
          <a:xfrm>
            <a:off x="4297680" y="3749040"/>
            <a:ext cx="3566160" cy="2103120"/>
          </a:xfrm>
          <a:prstGeom prst="roundRect">
            <a:avLst>
              <a:gd name="adj" fmla="val 3478"/>
            </a:avLst>
          </a:prstGeom>
          <a:solidFill>
            <a:srgbClr val="EDF5F5"/>
          </a:solidFill>
          <a:ln w="12700">
            <a:solidFill>
              <a:srgbClr val="EDF5F5"/>
            </a:solidFill>
            <a:prstDash val="solid"/>
          </a:ln>
        </p:spPr>
      </p:sp>
      <p:sp>
        <p:nvSpPr>
          <p:cNvPr id="31" name="Shape 24"/>
          <p:cNvSpPr/>
          <p:nvPr/>
        </p:nvSpPr>
        <p:spPr>
          <a:xfrm>
            <a:off x="4553712" y="4005072"/>
            <a:ext cx="566928" cy="566928"/>
          </a:xfrm>
          <a:prstGeom prst="ellipse">
            <a:avLst/>
          </a:prstGeom>
          <a:solidFill>
            <a:srgbClr val="154E54"/>
          </a:solidFill>
          <a:ln w="12700">
            <a:solidFill>
              <a:srgbClr val="154E54"/>
            </a:solidFill>
            <a:prstDash val="solid"/>
          </a:ln>
        </p:spPr>
      </p:sp>
      <p:pic>
        <p:nvPicPr>
          <p:cNvPr id="32" name="Image 4" descr="preencoded.png">    </p:cNvPr>
          <p:cNvPicPr>
            <a:picLocks noChangeAspect="1"/>
          </p:cNvPicPr>
          <p:nvPr/>
        </p:nvPicPr>
        <p:blipFill>
          <a:blip r:embed="rId5"/>
          <a:stretch>
            <a:fillRect/>
          </a:stretch>
        </p:blipFill>
        <p:spPr>
          <a:xfrm>
            <a:off x="4689775" y="4141135"/>
            <a:ext cx="294803" cy="294803"/>
          </a:xfrm>
          <a:prstGeom prst="rect">
            <a:avLst/>
          </a:prstGeom>
        </p:spPr>
      </p:pic>
      <p:sp>
        <p:nvSpPr>
          <p:cNvPr id="33" name="Text 25"/>
          <p:cNvSpPr txBox="1"/>
          <p:nvPr/>
        </p:nvSpPr>
        <p:spPr>
          <a:xfrm>
            <a:off x="5257800" y="4005072"/>
            <a:ext cx="2468880" cy="566928"/>
          </a:xfrm>
          <a:prstGeom prst="rect">
            <a:avLst/>
          </a:prstGeom>
          <a:noFill/>
          <a:ln/>
        </p:spPr>
        <p:txBody>
          <a:bodyPr wrap="square" lIns="0" tIns="0" rIns="0" bIns="0" rtlCol="0" anchor="ctr"/>
          <a:lstStyle/>
          <a:p>
            <a:pPr indent="0" marL="0">
              <a:buNone/>
            </a:pPr>
            <a:r>
              <a:rPr lang="en-US" sz="1700" b="1" dirty="0">
                <a:solidFill>
                  <a:srgbClr val="17292C"/>
                </a:solidFill>
                <a:latin typeface="Cambria" pitchFamily="34" charset="0"/>
                <a:ea typeface="Cambria" pitchFamily="34" charset="-122"/>
                <a:cs typeface="Cambria" pitchFamily="34" charset="-120"/>
              </a:rPr>
              <a:t>Kegagalan Gmail</a:t>
            </a:r>
            <a:endParaRPr lang="en-US" sz="1700" dirty="0"/>
          </a:p>
        </p:txBody>
      </p:sp>
      <p:sp>
        <p:nvSpPr>
          <p:cNvPr id="34" name="Text 26"/>
          <p:cNvSpPr txBox="1"/>
          <p:nvPr/>
        </p:nvSpPr>
        <p:spPr>
          <a:xfrm>
            <a:off x="4553712" y="4709160"/>
            <a:ext cx="3108960" cy="7772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Timeout menjadi SENT_UNKNOWN, tidak dikirim ulang otomatis.</a:t>
            </a:r>
            <a:endParaRPr lang="en-US" sz="1300" dirty="0"/>
          </a:p>
        </p:txBody>
      </p:sp>
      <p:sp>
        <p:nvSpPr>
          <p:cNvPr id="35" name="Text 27"/>
          <p:cNvSpPr txBox="1"/>
          <p:nvPr/>
        </p:nvSpPr>
        <p:spPr>
          <a:xfrm>
            <a:off x="4553712" y="5440680"/>
            <a:ext cx="3108960" cy="292608"/>
          </a:xfrm>
          <a:prstGeom prst="rect">
            <a:avLst/>
          </a:prstGeom>
          <a:noFill/>
          <a:ln/>
        </p:spPr>
        <p:txBody>
          <a:bodyPr wrap="square" lIns="0" tIns="0" rIns="0" bIns="0" rtlCol="0" anchor="t"/>
          <a:lstStyle/>
          <a:p>
            <a:pPr indent="0" marL="0">
              <a:buNone/>
            </a:pPr>
            <a:r>
              <a:rPr lang="en-US" sz="1200" b="1" dirty="0">
                <a:solidFill>
                  <a:srgbClr val="1E6F48"/>
                </a:solidFill>
                <a:latin typeface="Calibri" pitchFamily="34" charset="0"/>
                <a:ea typeface="Calibri" pitchFamily="34" charset="-122"/>
                <a:cs typeface="Calibri" pitchFamily="34" charset="-120"/>
              </a:rPr>
              <a:t>Diuji otomatis</a:t>
            </a:r>
            <a:endParaRPr lang="en-US" sz="1200" dirty="0"/>
          </a:p>
        </p:txBody>
      </p:sp>
      <p:sp>
        <p:nvSpPr>
          <p:cNvPr id="36" name="Shape 28"/>
          <p:cNvSpPr/>
          <p:nvPr/>
        </p:nvSpPr>
        <p:spPr>
          <a:xfrm>
            <a:off x="8046720" y="3749040"/>
            <a:ext cx="3566160" cy="2103120"/>
          </a:xfrm>
          <a:prstGeom prst="roundRect">
            <a:avLst>
              <a:gd name="adj" fmla="val 3478"/>
            </a:avLst>
          </a:prstGeom>
          <a:solidFill>
            <a:srgbClr val="FDF3DC"/>
          </a:solidFill>
          <a:ln w="12700">
            <a:solidFill>
              <a:srgbClr val="FDF3DC"/>
            </a:solidFill>
            <a:prstDash val="solid"/>
          </a:ln>
        </p:spPr>
      </p:sp>
      <p:sp>
        <p:nvSpPr>
          <p:cNvPr id="37" name="Shape 29"/>
          <p:cNvSpPr/>
          <p:nvPr/>
        </p:nvSpPr>
        <p:spPr>
          <a:xfrm>
            <a:off x="8302752" y="4005072"/>
            <a:ext cx="566928" cy="566928"/>
          </a:xfrm>
          <a:prstGeom prst="ellipse">
            <a:avLst/>
          </a:prstGeom>
          <a:solidFill>
            <a:srgbClr val="154E54"/>
          </a:solidFill>
          <a:ln w="12700">
            <a:solidFill>
              <a:srgbClr val="154E54"/>
            </a:solidFill>
            <a:prstDash val="solid"/>
          </a:ln>
        </p:spPr>
      </p:sp>
      <p:pic>
        <p:nvPicPr>
          <p:cNvPr id="38" name="Image 5" descr="preencoded.png">    </p:cNvPr>
          <p:cNvPicPr>
            <a:picLocks noChangeAspect="1"/>
          </p:cNvPicPr>
          <p:nvPr/>
        </p:nvPicPr>
        <p:blipFill>
          <a:blip r:embed="rId6"/>
          <a:stretch>
            <a:fillRect/>
          </a:stretch>
        </p:blipFill>
        <p:spPr>
          <a:xfrm>
            <a:off x="8438815" y="4141135"/>
            <a:ext cx="294803" cy="294803"/>
          </a:xfrm>
          <a:prstGeom prst="rect">
            <a:avLst/>
          </a:prstGeom>
        </p:spPr>
      </p:pic>
      <p:sp>
        <p:nvSpPr>
          <p:cNvPr id="39" name="Text 30"/>
          <p:cNvSpPr txBox="1"/>
          <p:nvPr/>
        </p:nvSpPr>
        <p:spPr>
          <a:xfrm>
            <a:off x="9006840" y="4005072"/>
            <a:ext cx="2468880" cy="566928"/>
          </a:xfrm>
          <a:prstGeom prst="rect">
            <a:avLst/>
          </a:prstGeom>
          <a:noFill/>
          <a:ln/>
        </p:spPr>
        <p:txBody>
          <a:bodyPr wrap="square" lIns="0" tIns="0" rIns="0" bIns="0" rtlCol="0" anchor="ctr"/>
          <a:lstStyle/>
          <a:p>
            <a:pPr indent="0" marL="0">
              <a:buNone/>
            </a:pPr>
            <a:r>
              <a:rPr lang="en-US" sz="1700" b="1" dirty="0">
                <a:solidFill>
                  <a:srgbClr val="17292C"/>
                </a:solidFill>
                <a:latin typeface="Cambria" pitchFamily="34" charset="0"/>
                <a:ea typeface="Cambria" pitchFamily="34" charset="-122"/>
                <a:cs typeface="Cambria" pitchFamily="34" charset="-120"/>
              </a:rPr>
              <a:t>Audit &amp; retensi</a:t>
            </a:r>
            <a:endParaRPr lang="en-US" sz="1700" dirty="0"/>
          </a:p>
        </p:txBody>
      </p:sp>
      <p:sp>
        <p:nvSpPr>
          <p:cNvPr id="40" name="Text 31"/>
          <p:cNvSpPr txBox="1"/>
          <p:nvPr/>
        </p:nvSpPr>
        <p:spPr>
          <a:xfrm>
            <a:off x="8302752" y="4709160"/>
            <a:ext cx="3108960" cy="777240"/>
          </a:xfrm>
          <a:prstGeom prst="rect">
            <a:avLst/>
          </a:prstGeom>
          <a:noFill/>
          <a:ln/>
        </p:spPr>
        <p:txBody>
          <a:bodyPr wrap="square" lIns="0" tIns="0" rIns="0" bIns="0" rtlCol="0" anchor="t"/>
          <a:lstStyle/>
          <a:p>
            <a:pPr indent="0" marL="0">
              <a:buNone/>
            </a:pPr>
            <a:r>
              <a:rPr lang="en-US" sz="1300" dirty="0">
                <a:solidFill>
                  <a:srgbClr val="3F5558"/>
                </a:solidFill>
                <a:latin typeface="Calibri" pitchFamily="34" charset="0"/>
                <a:ea typeface="Calibri" pitchFamily="34" charset="-122"/>
                <a:cs typeface="Calibri" pitchFamily="34" charset="-120"/>
              </a:rPr>
              <a:t>Log tanpa rahasia ada; kebijakan retensi belum diuji.</a:t>
            </a:r>
            <a:endParaRPr lang="en-US" sz="1300" dirty="0"/>
          </a:p>
        </p:txBody>
      </p:sp>
      <p:sp>
        <p:nvSpPr>
          <p:cNvPr id="41" name="Text 32"/>
          <p:cNvSpPr txBox="1"/>
          <p:nvPr/>
        </p:nvSpPr>
        <p:spPr>
          <a:xfrm>
            <a:off x="8302752" y="5440680"/>
            <a:ext cx="3108960" cy="292608"/>
          </a:xfrm>
          <a:prstGeom prst="rect">
            <a:avLst/>
          </a:prstGeom>
          <a:noFill/>
          <a:ln/>
        </p:spPr>
        <p:txBody>
          <a:bodyPr wrap="square" lIns="0" tIns="0" rIns="0" bIns="0" rtlCol="0" anchor="t"/>
          <a:lstStyle/>
          <a:p>
            <a:pPr indent="0" marL="0">
              <a:buNone/>
            </a:pPr>
            <a:r>
              <a:rPr lang="en-US" sz="1200" b="1" dirty="0">
                <a:solidFill>
                  <a:srgbClr val="9A6300"/>
                </a:solidFill>
                <a:latin typeface="Calibri" pitchFamily="34" charset="0"/>
                <a:ea typeface="Calibri" pitchFamily="34" charset="-122"/>
                <a:cs typeface="Calibri" pitchFamily="34" charset="-120"/>
              </a:rPr>
              <a:t>Belum diuji</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Hasil: 43 tes lulus dan simulasi 100 lead</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15</a:t>
            </a:r>
            <a:endParaRPr lang="en-US" sz="1000" dirty="0"/>
          </a:p>
        </p:txBody>
      </p:sp>
      <p:sp>
        <p:nvSpPr>
          <p:cNvPr id="6" name="Text 3"/>
          <p:cNvSpPr txBox="1"/>
          <p:nvPr/>
        </p:nvSpPr>
        <p:spPr>
          <a:xfrm>
            <a:off x="548640" y="1325880"/>
            <a:ext cx="2926080" cy="868680"/>
          </a:xfrm>
          <a:prstGeom prst="rect">
            <a:avLst/>
          </a:prstGeom>
          <a:noFill/>
          <a:ln/>
        </p:spPr>
        <p:txBody>
          <a:bodyPr wrap="square" lIns="0" tIns="0" rIns="0" bIns="0" rtlCol="0" anchor="t"/>
          <a:lstStyle/>
          <a:p>
            <a:pPr indent="0" marL="0">
              <a:buNone/>
            </a:pPr>
            <a:r>
              <a:rPr lang="en-US" sz="4800" b="1" dirty="0">
                <a:solidFill>
                  <a:srgbClr val="154E54"/>
                </a:solidFill>
                <a:latin typeface="Cambria" pitchFamily="34" charset="0"/>
                <a:ea typeface="Cambria" pitchFamily="34" charset="-122"/>
                <a:cs typeface="Cambria" pitchFamily="34" charset="-120"/>
              </a:rPr>
              <a:t>43 / 43</a:t>
            </a:r>
            <a:endParaRPr lang="en-US" sz="4800" dirty="0"/>
          </a:p>
        </p:txBody>
      </p:sp>
      <p:sp>
        <p:nvSpPr>
          <p:cNvPr id="7" name="Text 4"/>
          <p:cNvSpPr txBox="1"/>
          <p:nvPr/>
        </p:nvSpPr>
        <p:spPr>
          <a:xfrm>
            <a:off x="3154680" y="1481328"/>
            <a:ext cx="2377440" cy="640080"/>
          </a:xfrm>
          <a:prstGeom prst="rect">
            <a:avLst/>
          </a:prstGeom>
          <a:noFill/>
          <a:ln/>
        </p:spPr>
        <p:txBody>
          <a:bodyPr wrap="square" lIns="0" tIns="0" rIns="0" bIns="0" rtlCol="0" anchor="ctr"/>
          <a:lstStyle/>
          <a:p>
            <a:pPr indent="0" marL="0">
              <a:buNone/>
            </a:pPr>
            <a:r>
              <a:rPr lang="en-US" sz="1600" dirty="0">
                <a:solidFill>
                  <a:srgbClr val="3F5558"/>
                </a:solidFill>
                <a:latin typeface="Calibri" pitchFamily="34" charset="0"/>
                <a:ea typeface="Calibri" pitchFamily="34" charset="-122"/>
                <a:cs typeface="Calibri" pitchFamily="34" charset="-120"/>
              </a:rPr>
              <a:t>tes otomatis lulus</a:t>
            </a:r>
            <a:endParaRPr lang="en-US" sz="1600" dirty="0"/>
          </a:p>
        </p:txBody>
      </p:sp>
      <p:graphicFrame>
        <p:nvGraphicFramePr>
          <p:cNvPr id="8" name="Chart 0" descr=""/>
          <p:cNvGraphicFramePr/>
          <p:nvPr/>
        </p:nvGraphicFramePr>
        <p:xfrm>
          <a:off x="457200" y="2240280"/>
          <a:ext cx="5486400" cy="3977640"/>
        </p:xfrm>
        <a:graphic xmlns:a="http://schemas.openxmlformats.org/drawingml/2006/main">
          <a:graphicData uri="http://schemas.openxmlformats.org/drawingml/2006/chart">
            <c:chart xmlns:c="http://schemas.openxmlformats.org/drawingml/2006/chart" r:id="rId1"/>
          </a:graphicData>
        </a:graphic>
      </p:graphicFrame>
      <p:graphicFrame>
        <p:nvGraphicFramePr>
          <p:cNvPr id="9" name="Chart 1" descr=""/>
          <p:cNvGraphicFramePr/>
          <p:nvPr/>
        </p:nvGraphicFramePr>
        <p:xfrm>
          <a:off x="6263640" y="1325880"/>
          <a:ext cx="3108960" cy="3108960"/>
        </p:xfrm>
        <a:graphic xmlns:a="http://schemas.openxmlformats.org/drawingml/2006/main">
          <a:graphicData uri="http://schemas.openxmlformats.org/drawingml/2006/chart">
            <c:chart xmlns:c="http://schemas.openxmlformats.org/drawingml/2006/chart" r:id="rId2"/>
          </a:graphicData>
        </a:graphic>
      </p:graphicFrame>
      <p:sp>
        <p:nvSpPr>
          <p:cNvPr id="10" name="Text 5"/>
          <p:cNvSpPr txBox="1"/>
          <p:nvPr/>
        </p:nvSpPr>
        <p:spPr>
          <a:xfrm>
            <a:off x="9509760" y="1463040"/>
            <a:ext cx="2194560" cy="3017520"/>
          </a:xfrm>
          <a:prstGeom prst="rect">
            <a:avLst/>
          </a:prstGeom>
          <a:noFill/>
          <a:ln/>
        </p:spPr>
        <p:txBody>
          <a:bodyPr wrap="square" lIns="0" tIns="0" rIns="0" bIns="0" rtlCol="0" anchor="t"/>
          <a:lstStyle/>
          <a:p>
            <a:pPr indent="0" marL="0">
              <a:spcAft>
                <a:spcPts val="300"/>
              </a:spcAft>
              <a:buNone/>
            </a:pPr>
            <a:r>
              <a:rPr lang="en-US" sz="1600" b="1" dirty="0">
                <a:solidFill>
                  <a:srgbClr val="1E6F48"/>
                </a:solidFill>
                <a:latin typeface="Calibri" pitchFamily="34" charset="0"/>
                <a:ea typeface="Calibri" pitchFamily="34" charset="-122"/>
                <a:cs typeface="Calibri" pitchFamily="34" charset="-120"/>
              </a:rPr>
              <a:t>76 PASS</a:t>
            </a:r>
            <a:endParaRPr lang="en-US" sz="1600" dirty="0"/>
          </a:p>
          <a:p>
            <a:pPr indent="0" marL="0">
              <a:spcAft>
                <a:spcPts val="300"/>
              </a:spcAft>
              <a:buNone/>
            </a:pPr>
            <a:r>
              <a:rPr lang="en-US" sz="1250" dirty="0">
                <a:solidFill>
                  <a:srgbClr val="3F5558"/>
                </a:solidFill>
                <a:latin typeface="Calibri" pitchFamily="34" charset="0"/>
                <a:ea typeface="Calibri" pitchFamily="34" charset="-122"/>
                <a:cs typeface="Calibri" pitchFamily="34" charset="-120"/>
              </a:rPr>
              <a:t>siap disetujui</a:t>
            </a:r>
            <a:endParaRPr lang="en-US" sz="1600" dirty="0"/>
          </a:p>
          <a:p>
            <a:pPr indent="0" marL="0">
              <a:spcAft>
                <a:spcPts val="300"/>
              </a:spcAft>
              <a:buNone/>
            </a:pPr>
            <a:r>
              <a:rPr lang="en-US" sz="1600" b="1" dirty="0">
                <a:solidFill>
                  <a:srgbClr val="9A6300"/>
                </a:solidFill>
                <a:latin typeface="Calibri" pitchFamily="34" charset="0"/>
                <a:ea typeface="Calibri" pitchFamily="34" charset="-122"/>
                <a:cs typeface="Calibri" pitchFamily="34" charset="-120"/>
              </a:rPr>
              <a:t>14 REVIEW</a:t>
            </a:r>
            <a:endParaRPr lang="en-US" sz="1600" dirty="0"/>
          </a:p>
          <a:p>
            <a:pPr indent="0" marL="0">
              <a:spcAft>
                <a:spcPts val="300"/>
              </a:spcAft>
              <a:buNone/>
            </a:pPr>
            <a:r>
              <a:rPr lang="en-US" sz="1250" dirty="0">
                <a:solidFill>
                  <a:srgbClr val="3F5558"/>
                </a:solidFill>
                <a:latin typeface="Calibri" pitchFamily="34" charset="0"/>
                <a:ea typeface="Calibri" pitchFamily="34" charset="-122"/>
                <a:cs typeface="Calibri" pitchFamily="34" charset="-120"/>
              </a:rPr>
              <a:t>13 identitas ambigu, 1 prompt injection</a:t>
            </a:r>
            <a:endParaRPr lang="en-US" sz="1600" dirty="0"/>
          </a:p>
          <a:p>
            <a:pPr indent="0" marL="0">
              <a:spcAft>
                <a:spcPts val="300"/>
              </a:spcAft>
              <a:buNone/>
            </a:pPr>
            <a:r>
              <a:rPr lang="en-US" sz="1600" b="1" dirty="0">
                <a:solidFill>
                  <a:srgbClr val="A8321F"/>
                </a:solidFill>
                <a:latin typeface="Calibri" pitchFamily="34" charset="0"/>
                <a:ea typeface="Calibri" pitchFamily="34" charset="-122"/>
                <a:cs typeface="Calibri" pitchFamily="34" charset="-120"/>
              </a:rPr>
              <a:t>10 BLOCK</a:t>
            </a:r>
            <a:endParaRPr lang="en-US" sz="1600" dirty="0"/>
          </a:p>
          <a:p>
            <a:pPr indent="0" marL="0">
              <a:spcAft>
                <a:spcPts val="300"/>
              </a:spcAft>
              <a:buNone/>
            </a:pPr>
            <a:r>
              <a:rPr lang="en-US" sz="1250" dirty="0">
                <a:solidFill>
                  <a:srgbClr val="3F5558"/>
                </a:solidFill>
                <a:latin typeface="Calibri" pitchFamily="34" charset="0"/>
                <a:ea typeface="Calibri" pitchFamily="34" charset="-122"/>
                <a:cs typeface="Calibri" pitchFamily="34" charset="-120"/>
              </a:rPr>
              <a:t>7 tanpa izin, 2 email invalid, 1 duplikat</a:t>
            </a:r>
            <a:endParaRPr lang="en-US" sz="1600" dirty="0"/>
          </a:p>
        </p:txBody>
      </p:sp>
      <p:sp>
        <p:nvSpPr>
          <p:cNvPr id="11" name="Shape 6"/>
          <p:cNvSpPr/>
          <p:nvPr/>
        </p:nvSpPr>
        <p:spPr>
          <a:xfrm>
            <a:off x="6263640" y="4892040"/>
            <a:ext cx="5394960" cy="1188720"/>
          </a:xfrm>
          <a:prstGeom prst="roundRect">
            <a:avLst>
              <a:gd name="adj" fmla="val 6154"/>
            </a:avLst>
          </a:prstGeom>
          <a:solidFill>
            <a:srgbClr val="EDF5F5"/>
          </a:solidFill>
          <a:ln w="12700">
            <a:solidFill>
              <a:srgbClr val="EDF5F5"/>
            </a:solidFill>
            <a:prstDash val="solid"/>
          </a:ln>
        </p:spPr>
      </p:sp>
      <p:sp>
        <p:nvSpPr>
          <p:cNvPr id="12" name="Text 7"/>
          <p:cNvSpPr txBox="1"/>
          <p:nvPr/>
        </p:nvSpPr>
        <p:spPr>
          <a:xfrm>
            <a:off x="6492240" y="5029200"/>
            <a:ext cx="4983480" cy="960120"/>
          </a:xfrm>
          <a:prstGeom prst="rect">
            <a:avLst/>
          </a:prstGeom>
          <a:noFill/>
          <a:ln/>
        </p:spPr>
        <p:txBody>
          <a:bodyPr wrap="square" lIns="0" tIns="0" rIns="0" bIns="0" rtlCol="0" anchor="t"/>
          <a:lstStyle/>
          <a:p>
            <a:pPr indent="0" marL="0">
              <a:buNone/>
            </a:pPr>
            <a:r>
              <a:rPr lang="en-US" sz="1300" b="1" dirty="0">
                <a:solidFill>
                  <a:srgbClr val="17292C"/>
                </a:solidFill>
                <a:latin typeface="Calibri" pitchFamily="34" charset="0"/>
                <a:ea typeface="Calibri" pitchFamily="34" charset="-122"/>
                <a:cs typeface="Calibri" pitchFamily="34" charset="-120"/>
              </a:rPr>
              <a:t>Batas bukti  </a:t>
            </a:r>
            <a:pPr indent="0" marL="0">
              <a:buNone/>
            </a:pPr>
            <a:r>
              <a:rPr lang="en-US" sz="1300" dirty="0">
                <a:solidFill>
                  <a:srgbClr val="3F5558"/>
                </a:solidFill>
                <a:latin typeface="Calibri" pitchFamily="34" charset="0"/>
                <a:ea typeface="Calibri" pitchFamily="34" charset="-122"/>
                <a:cs typeface="Calibri" pitchFamily="34" charset="-120"/>
              </a:rPr>
              <a:t>Simulasi memakai layanan tiruan dan data fiktif. Rata-rata persiapan 2,7 detik per lead (p95 3,2 detik) mencerminkan latensi buatan, bukan kinerja nyata.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777240"/>
          </a:xfrm>
          <a:prstGeom prst="rect">
            <a:avLst/>
          </a:prstGeom>
          <a:noFill/>
          <a:ln/>
        </p:spPr>
        <p:txBody>
          <a:bodyPr wrap="square" lIns="0" tIns="0" rIns="0" bIns="0" rtlCol="0" anchor="ctr"/>
          <a:lstStyle/>
          <a:p>
            <a:pPr indent="0" marL="0">
              <a:buNone/>
            </a:pPr>
            <a:r>
              <a:rPr lang="en-US" sz="2800" b="1" dirty="0">
                <a:solidFill>
                  <a:srgbClr val="17292C"/>
                </a:solidFill>
                <a:latin typeface="Cambria" pitchFamily="34" charset="0"/>
                <a:ea typeface="Cambria" pitchFamily="34" charset="-122"/>
                <a:cs typeface="Cambria" pitchFamily="34" charset="-120"/>
              </a:rPr>
              <a:t>Keterbatasan dan langkah berikutnya</a:t>
            </a:r>
            <a:endParaRPr lang="en-US" sz="2800" dirty="0"/>
          </a:p>
        </p:txBody>
      </p:sp>
      <p:sp>
        <p:nvSpPr>
          <p:cNvPr id="3" name="Text 1"/>
          <p:cNvSpPr txBox="1"/>
          <p:nvPr/>
        </p:nvSpPr>
        <p:spPr>
          <a:xfrm>
            <a:off x="548640" y="6419088"/>
            <a:ext cx="6400800" cy="274320"/>
          </a:xfrm>
          <a:prstGeom prst="rect">
            <a:avLst/>
          </a:prstGeom>
          <a:noFill/>
          <a:ln/>
        </p:spPr>
        <p:txBody>
          <a:bodyPr wrap="square" lIns="0" tIns="0" rIns="0" bIns="0" rtlCol="0" anchor="t"/>
          <a:lstStyle/>
          <a:p>
            <a:pPr indent="0" marL="0">
              <a:buNone/>
            </a:pPr>
            <a:r>
              <a:rPr lang="en-US" sz="1000" dirty="0">
                <a:solidFill>
                  <a:srgbClr val="5F7477"/>
                </a:solidFill>
                <a:latin typeface="Calibri" pitchFamily="34" charset="0"/>
                <a:ea typeface="Calibri" pitchFamily="34" charset="-122"/>
                <a:cs typeface="Calibri" pitchFamily="34" charset="-120"/>
              </a:rPr>
              <a:t>Outreach Control · Kelompok 1 · Agen Cerdas Enterprise</a:t>
            </a:r>
            <a:endParaRPr lang="en-US" sz="1000" dirty="0"/>
          </a:p>
        </p:txBody>
      </p:sp>
      <p:sp>
        <p:nvSpPr>
          <p:cNvPr id="4" name="Text 2"/>
          <p:cNvSpPr txBox="1"/>
          <p:nvPr/>
        </p:nvSpPr>
        <p:spPr>
          <a:xfrm>
            <a:off x="11183112" y="6419088"/>
            <a:ext cx="457200" cy="274320"/>
          </a:xfrm>
          <a:prstGeom prst="rect">
            <a:avLst/>
          </a:prstGeom>
          <a:noFill/>
          <a:ln/>
        </p:spPr>
        <p:txBody>
          <a:bodyPr wrap="square" lIns="0" tIns="0" rIns="0" bIns="0" rtlCol="0" anchor="t"/>
          <a:lstStyle/>
          <a:p>
            <a:pPr algn="r" indent="0" marL="0">
              <a:buNone/>
            </a:pPr>
            <a:r>
              <a:rPr lang="en-US" sz="1000" dirty="0">
                <a:solidFill>
                  <a:srgbClr val="5F7477"/>
                </a:solidFill>
                <a:latin typeface="Calibri" pitchFamily="34" charset="0"/>
                <a:ea typeface="Calibri" pitchFamily="34" charset="-122"/>
                <a:cs typeface="Calibri" pitchFamily="34" charset="-120"/>
              </a:rPr>
              <a:t>16</a:t>
            </a:r>
            <a:endParaRPr lang="en-US" sz="1000" dirty="0"/>
          </a:p>
        </p:txBody>
      </p:sp>
      <p:sp>
        <p:nvSpPr>
          <p:cNvPr id="6" name="Shape 3"/>
          <p:cNvSpPr/>
          <p:nvPr/>
        </p:nvSpPr>
        <p:spPr>
          <a:xfrm>
            <a:off x="548640" y="1417320"/>
            <a:ext cx="5440680" cy="4754880"/>
          </a:xfrm>
          <a:prstGeom prst="roundRect">
            <a:avLst>
              <a:gd name="adj" fmla="val 1538"/>
            </a:avLst>
          </a:prstGeom>
          <a:solidFill>
            <a:srgbClr val="FDF3DC"/>
          </a:solidFill>
          <a:ln w="12700">
            <a:solidFill>
              <a:srgbClr val="FDF3DC"/>
            </a:solidFill>
            <a:prstDash val="solid"/>
          </a:ln>
        </p:spPr>
      </p:sp>
      <p:sp>
        <p:nvSpPr>
          <p:cNvPr id="7" name="Shape 4"/>
          <p:cNvSpPr/>
          <p:nvPr/>
        </p:nvSpPr>
        <p:spPr>
          <a:xfrm>
            <a:off x="822960" y="1691640"/>
            <a:ext cx="640080" cy="640080"/>
          </a:xfrm>
          <a:prstGeom prst="ellipse">
            <a:avLst/>
          </a:prstGeom>
          <a:solidFill>
            <a:srgbClr val="9A6300"/>
          </a:solidFill>
          <a:ln w="12700">
            <a:solidFill>
              <a:srgbClr val="9A6300"/>
            </a:solidFill>
            <a:prstDash val="solid"/>
          </a:ln>
        </p:spPr>
      </p:sp>
      <p:pic>
        <p:nvPicPr>
          <p:cNvPr id="8" name="Image 0" descr="preencoded.png">    </p:cNvPr>
          <p:cNvPicPr>
            <a:picLocks noChangeAspect="1"/>
          </p:cNvPicPr>
          <p:nvPr/>
        </p:nvPicPr>
        <p:blipFill>
          <a:blip r:embed="rId1"/>
          <a:stretch>
            <a:fillRect/>
          </a:stretch>
        </p:blipFill>
        <p:spPr>
          <a:xfrm>
            <a:off x="976579" y="1845259"/>
            <a:ext cx="332842" cy="332842"/>
          </a:xfrm>
          <a:prstGeom prst="rect">
            <a:avLst/>
          </a:prstGeom>
        </p:spPr>
      </p:pic>
      <p:sp>
        <p:nvSpPr>
          <p:cNvPr id="9" name="Text 5"/>
          <p:cNvSpPr txBox="1"/>
          <p:nvPr/>
        </p:nvSpPr>
        <p:spPr>
          <a:xfrm>
            <a:off x="1645920" y="1691640"/>
            <a:ext cx="4023360" cy="640080"/>
          </a:xfrm>
          <a:prstGeom prst="rect">
            <a:avLst/>
          </a:prstGeom>
          <a:noFill/>
          <a:ln/>
        </p:spPr>
        <p:txBody>
          <a:bodyPr wrap="square" lIns="0" tIns="0" rIns="0" bIns="0" rtlCol="0" anchor="ctr"/>
          <a:lstStyle/>
          <a:p>
            <a:pPr indent="0" marL="0">
              <a:buNone/>
            </a:pPr>
            <a:r>
              <a:rPr lang="en-US" sz="2200" b="1" dirty="0">
                <a:solidFill>
                  <a:srgbClr val="17292C"/>
                </a:solidFill>
                <a:latin typeface="Cambria" pitchFamily="34" charset="0"/>
                <a:ea typeface="Cambria" pitchFamily="34" charset="-122"/>
                <a:cs typeface="Cambria" pitchFamily="34" charset="-120"/>
              </a:rPr>
              <a:t>Belum diuji</a:t>
            </a:r>
            <a:endParaRPr lang="en-US" sz="2200" dirty="0"/>
          </a:p>
        </p:txBody>
      </p:sp>
      <p:sp>
        <p:nvSpPr>
          <p:cNvPr id="10" name="Text 6"/>
          <p:cNvSpPr txBox="1"/>
          <p:nvPr/>
        </p:nvSpPr>
        <p:spPr>
          <a:xfrm>
            <a:off x="868680" y="2606040"/>
            <a:ext cx="4846320" cy="34290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Kualitas bahasa email dari LLM sungguhan (penilaian manusia blind)</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Run nyata actor Apify dan pemetaan keluarannya</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Pengiriman Gmail ke penerima nyata</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Pembandingan A/B/C dengan 10 pengulangan (Bagian 9.1)</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Runtime A/B masih dalam satu proses (mobilitas logis)</a:t>
            </a:r>
            <a:endParaRPr lang="en-US" sz="1700" dirty="0"/>
          </a:p>
        </p:txBody>
      </p:sp>
      <p:sp>
        <p:nvSpPr>
          <p:cNvPr id="11" name="Shape 7"/>
          <p:cNvSpPr/>
          <p:nvPr/>
        </p:nvSpPr>
        <p:spPr>
          <a:xfrm>
            <a:off x="6172200" y="1417320"/>
            <a:ext cx="5440680" cy="4754880"/>
          </a:xfrm>
          <a:prstGeom prst="roundRect">
            <a:avLst>
              <a:gd name="adj" fmla="val 1538"/>
            </a:avLst>
          </a:prstGeom>
          <a:solidFill>
            <a:srgbClr val="EDF5F5"/>
          </a:solidFill>
          <a:ln w="12700">
            <a:solidFill>
              <a:srgbClr val="EDF5F5"/>
            </a:solidFill>
            <a:prstDash val="solid"/>
          </a:ln>
        </p:spPr>
      </p:sp>
      <p:sp>
        <p:nvSpPr>
          <p:cNvPr id="12" name="Shape 8"/>
          <p:cNvSpPr/>
          <p:nvPr/>
        </p:nvSpPr>
        <p:spPr>
          <a:xfrm>
            <a:off x="6446520" y="1691640"/>
            <a:ext cx="640080" cy="640080"/>
          </a:xfrm>
          <a:prstGeom prst="ellipse">
            <a:avLst/>
          </a:prstGeom>
          <a:solidFill>
            <a:srgbClr val="154E54"/>
          </a:solidFill>
          <a:ln w="12700">
            <a:solidFill>
              <a:srgbClr val="154E54"/>
            </a:solidFill>
            <a:prstDash val="solid"/>
          </a:ln>
        </p:spPr>
      </p:sp>
      <p:pic>
        <p:nvPicPr>
          <p:cNvPr id="13" name="Image 1" descr="preencoded.png">    </p:cNvPr>
          <p:cNvPicPr>
            <a:picLocks noChangeAspect="1"/>
          </p:cNvPicPr>
          <p:nvPr/>
        </p:nvPicPr>
        <p:blipFill>
          <a:blip r:embed="rId2"/>
          <a:stretch>
            <a:fillRect/>
          </a:stretch>
        </p:blipFill>
        <p:spPr>
          <a:xfrm>
            <a:off x="6600139" y="1845259"/>
            <a:ext cx="332842" cy="332842"/>
          </a:xfrm>
          <a:prstGeom prst="rect">
            <a:avLst/>
          </a:prstGeom>
        </p:spPr>
      </p:pic>
      <p:sp>
        <p:nvSpPr>
          <p:cNvPr id="14" name="Text 9"/>
          <p:cNvSpPr txBox="1"/>
          <p:nvPr/>
        </p:nvSpPr>
        <p:spPr>
          <a:xfrm>
            <a:off x="7269480" y="1691640"/>
            <a:ext cx="4023360" cy="640080"/>
          </a:xfrm>
          <a:prstGeom prst="rect">
            <a:avLst/>
          </a:prstGeom>
          <a:noFill/>
          <a:ln/>
        </p:spPr>
        <p:txBody>
          <a:bodyPr wrap="square" lIns="0" tIns="0" rIns="0" bIns="0" rtlCol="0" anchor="ctr"/>
          <a:lstStyle/>
          <a:p>
            <a:pPr indent="0" marL="0">
              <a:buNone/>
            </a:pPr>
            <a:r>
              <a:rPr lang="en-US" sz="2200" b="1" dirty="0">
                <a:solidFill>
                  <a:srgbClr val="17292C"/>
                </a:solidFill>
                <a:latin typeface="Cambria" pitchFamily="34" charset="0"/>
                <a:ea typeface="Cambria" pitchFamily="34" charset="-122"/>
                <a:cs typeface="Cambria" pitchFamily="34" charset="-120"/>
              </a:rPr>
              <a:t>Langkah berikutnya</a:t>
            </a:r>
            <a:endParaRPr lang="en-US" sz="2200" dirty="0"/>
          </a:p>
        </p:txBody>
      </p:sp>
      <p:sp>
        <p:nvSpPr>
          <p:cNvPr id="15" name="Text 10"/>
          <p:cNvSpPr txBox="1"/>
          <p:nvPr/>
        </p:nvSpPr>
        <p:spPr>
          <a:xfrm>
            <a:off x="6492240" y="2606040"/>
            <a:ext cx="4846320" cy="342900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Uji live terbatas: mode satu penerima + mode draf</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Label 1.000 pasangan entitas untuk menguji skor S dan classifier</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Jalankan evaluasi A/B/C: waktu, p95, biaya per email, kualitas</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Dua runtime di mesin terpisah untuk uji mobilitas nyata</a:t>
            </a:r>
            <a:endParaRPr lang="en-US" sz="1700" dirty="0"/>
          </a:p>
          <a:p>
            <a:pPr marL="342900" indent="-342900">
              <a:spcAft>
                <a:spcPts val="1400"/>
              </a:spcAft>
              <a:buSzPct val="100000"/>
              <a:buChar char="•"/>
            </a:pPr>
            <a:r>
              <a:rPr lang="en-US" sz="1700" dirty="0">
                <a:solidFill>
                  <a:srgbClr val="3F5558"/>
                </a:solidFill>
                <a:latin typeface="Calibri" pitchFamily="34" charset="0"/>
                <a:ea typeface="Calibri" pitchFamily="34" charset="-122"/>
                <a:cs typeface="Calibri" pitchFamily="34" charset="-120"/>
              </a:rPr>
              <a:t>Kebijakan retensi data sebelum memakai data nyata</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3136"/>
        </a:solidFill>
      </p:bgPr>
    </p:bg>
    <p:spTree>
      <p:nvGrpSpPr>
        <p:cNvPr id="1" name=""/>
        <p:cNvGrpSpPr/>
        <p:nvPr/>
      </p:nvGrpSpPr>
      <p:grpSpPr>
        <a:xfrm>
          <a:off x="0" y="0"/>
          <a:ext cx="0" cy="0"/>
          <a:chOff x="0" y="0"/>
          <a:chExt cx="0" cy="0"/>
        </a:xfrm>
      </p:grpSpPr>
      <p:sp>
        <p:nvSpPr>
          <p:cNvPr id="3" name="Text 0"/>
          <p:cNvSpPr txBox="1"/>
          <p:nvPr/>
        </p:nvSpPr>
        <p:spPr>
          <a:xfrm>
            <a:off x="640080" y="685800"/>
            <a:ext cx="7315200" cy="73152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Kesimpulan</a:t>
            </a:r>
            <a:endParaRPr lang="en-US" sz="3600" dirty="0"/>
          </a:p>
        </p:txBody>
      </p:sp>
      <p:sp>
        <p:nvSpPr>
          <p:cNvPr id="4" name="Shape 1"/>
          <p:cNvSpPr/>
          <p:nvPr/>
        </p:nvSpPr>
        <p:spPr>
          <a:xfrm>
            <a:off x="640080" y="1783080"/>
            <a:ext cx="731520" cy="731520"/>
          </a:xfrm>
          <a:prstGeom prst="ellipse">
            <a:avLst/>
          </a:prstGeom>
          <a:solidFill>
            <a:srgbClr val="F2B544"/>
          </a:solidFill>
          <a:ln w="12700">
            <a:solidFill>
              <a:srgbClr val="F2B544"/>
            </a:solidFill>
            <a:prstDash val="solid"/>
          </a:ln>
        </p:spPr>
      </p:sp>
      <p:pic>
        <p:nvPicPr>
          <p:cNvPr id="5" name="Image 0" descr="preencoded.png">    </p:cNvPr>
          <p:cNvPicPr>
            <a:picLocks noChangeAspect="1"/>
          </p:cNvPicPr>
          <p:nvPr/>
        </p:nvPicPr>
        <p:blipFill>
          <a:blip r:embed="rId1"/>
          <a:stretch>
            <a:fillRect/>
          </a:stretch>
        </p:blipFill>
        <p:spPr>
          <a:xfrm>
            <a:off x="815645" y="1958645"/>
            <a:ext cx="380390" cy="380390"/>
          </a:xfrm>
          <a:prstGeom prst="rect">
            <a:avLst/>
          </a:prstGeom>
        </p:spPr>
      </p:pic>
      <p:sp>
        <p:nvSpPr>
          <p:cNvPr id="6" name="Text 2"/>
          <p:cNvSpPr txBox="1"/>
          <p:nvPr/>
        </p:nvSpPr>
        <p:spPr>
          <a:xfrm>
            <a:off x="640080" y="2697480"/>
            <a:ext cx="3383280" cy="50292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Dapat ditelusuri</a:t>
            </a:r>
            <a:endParaRPr lang="en-US" sz="2100" dirty="0"/>
          </a:p>
        </p:txBody>
      </p:sp>
      <p:sp>
        <p:nvSpPr>
          <p:cNvPr id="7" name="Text 3"/>
          <p:cNvSpPr txBox="1"/>
          <p:nvPr/>
        </p:nvSpPr>
        <p:spPr>
          <a:xfrm>
            <a:off x="640080" y="3200400"/>
            <a:ext cx="3291840" cy="914400"/>
          </a:xfrm>
          <a:prstGeom prst="rect">
            <a:avLst/>
          </a:prstGeom>
          <a:noFill/>
          <a:ln/>
        </p:spPr>
        <p:txBody>
          <a:bodyPr wrap="square" lIns="0" tIns="0" rIns="0" bIns="0" rtlCol="0" anchor="t"/>
          <a:lstStyle/>
          <a:p>
            <a:pPr indent="0" marL="0">
              <a:buNone/>
            </a:pPr>
            <a:r>
              <a:rPr lang="en-US" sz="1500" dirty="0">
                <a:solidFill>
                  <a:srgbClr val="BCD7D9"/>
                </a:solidFill>
                <a:latin typeface="Calibri" pitchFamily="34" charset="0"/>
                <a:ea typeface="Calibri" pitchFamily="34" charset="-122"/>
                <a:cs typeface="Calibri" pitchFamily="34" charset="-120"/>
              </a:rPr>
              <a:t>Setiap klaim email membawa sumber, waktu, dan kutipan.</a:t>
            </a:r>
            <a:endParaRPr lang="en-US" sz="1500" dirty="0"/>
          </a:p>
        </p:txBody>
      </p:sp>
      <p:sp>
        <p:nvSpPr>
          <p:cNvPr id="8" name="Shape 4"/>
          <p:cNvSpPr/>
          <p:nvPr/>
        </p:nvSpPr>
        <p:spPr>
          <a:xfrm>
            <a:off x="4343400" y="1783080"/>
            <a:ext cx="731520" cy="731520"/>
          </a:xfrm>
          <a:prstGeom prst="ellipse">
            <a:avLst/>
          </a:prstGeom>
          <a:solidFill>
            <a:srgbClr val="F2B544"/>
          </a:solidFill>
          <a:ln w="12700">
            <a:solidFill>
              <a:srgbClr val="F2B544"/>
            </a:solidFill>
            <a:prstDash val="solid"/>
          </a:ln>
        </p:spPr>
      </p:sp>
      <p:pic>
        <p:nvPicPr>
          <p:cNvPr id="9" name="Image 1" descr="preencoded.png">    </p:cNvPr>
          <p:cNvPicPr>
            <a:picLocks noChangeAspect="1"/>
          </p:cNvPicPr>
          <p:nvPr/>
        </p:nvPicPr>
        <p:blipFill>
          <a:blip r:embed="rId2"/>
          <a:stretch>
            <a:fillRect/>
          </a:stretch>
        </p:blipFill>
        <p:spPr>
          <a:xfrm>
            <a:off x="4518965" y="1958645"/>
            <a:ext cx="380390" cy="380390"/>
          </a:xfrm>
          <a:prstGeom prst="rect">
            <a:avLst/>
          </a:prstGeom>
        </p:spPr>
      </p:pic>
      <p:sp>
        <p:nvSpPr>
          <p:cNvPr id="10" name="Text 5"/>
          <p:cNvSpPr txBox="1"/>
          <p:nvPr/>
        </p:nvSpPr>
        <p:spPr>
          <a:xfrm>
            <a:off x="4343400" y="2697480"/>
            <a:ext cx="3383280" cy="50292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Manusia memutuskan</a:t>
            </a:r>
            <a:endParaRPr lang="en-US" sz="2100" dirty="0"/>
          </a:p>
        </p:txBody>
      </p:sp>
      <p:sp>
        <p:nvSpPr>
          <p:cNvPr id="11" name="Text 6"/>
          <p:cNvSpPr txBox="1"/>
          <p:nvPr/>
        </p:nvSpPr>
        <p:spPr>
          <a:xfrm>
            <a:off x="4343400" y="3200400"/>
            <a:ext cx="3291840" cy="914400"/>
          </a:xfrm>
          <a:prstGeom prst="rect">
            <a:avLst/>
          </a:prstGeom>
          <a:noFill/>
          <a:ln/>
        </p:spPr>
        <p:txBody>
          <a:bodyPr wrap="square" lIns="0" tIns="0" rIns="0" bIns="0" rtlCol="0" anchor="t"/>
          <a:lstStyle/>
          <a:p>
            <a:pPr indent="0" marL="0">
              <a:buNone/>
            </a:pPr>
            <a:r>
              <a:rPr lang="en-US" sz="1500" dirty="0">
                <a:solidFill>
                  <a:srgbClr val="BCD7D9"/>
                </a:solidFill>
                <a:latin typeface="Calibri" pitchFamily="34" charset="0"/>
                <a:ea typeface="Calibri" pitchFamily="34" charset="-122"/>
                <a:cs typeface="Calibri" pitchFamily="34" charset="-120"/>
              </a:rPr>
              <a:t>Approval terikat versi; aturan keamanan tidak bisa dibatalkan LLM.</a:t>
            </a:r>
            <a:endParaRPr lang="en-US" sz="1500" dirty="0"/>
          </a:p>
        </p:txBody>
      </p:sp>
      <p:sp>
        <p:nvSpPr>
          <p:cNvPr id="12" name="Shape 7"/>
          <p:cNvSpPr/>
          <p:nvPr/>
        </p:nvSpPr>
        <p:spPr>
          <a:xfrm>
            <a:off x="8046720" y="1783080"/>
            <a:ext cx="731520" cy="731520"/>
          </a:xfrm>
          <a:prstGeom prst="ellipse">
            <a:avLst/>
          </a:prstGeom>
          <a:solidFill>
            <a:srgbClr val="F2B544"/>
          </a:solidFill>
          <a:ln w="12700">
            <a:solidFill>
              <a:srgbClr val="F2B544"/>
            </a:solidFill>
            <a:prstDash val="solid"/>
          </a:ln>
        </p:spPr>
      </p:sp>
      <p:pic>
        <p:nvPicPr>
          <p:cNvPr id="13" name="Image 2" descr="preencoded.png">    </p:cNvPr>
          <p:cNvPicPr>
            <a:picLocks noChangeAspect="1"/>
          </p:cNvPicPr>
          <p:nvPr/>
        </p:nvPicPr>
        <p:blipFill>
          <a:blip r:embed="rId3"/>
          <a:stretch>
            <a:fillRect/>
          </a:stretch>
        </p:blipFill>
        <p:spPr>
          <a:xfrm>
            <a:off x="8222285" y="1958645"/>
            <a:ext cx="380390" cy="380390"/>
          </a:xfrm>
          <a:prstGeom prst="rect">
            <a:avLst/>
          </a:prstGeom>
        </p:spPr>
      </p:pic>
      <p:sp>
        <p:nvSpPr>
          <p:cNvPr id="14" name="Text 8"/>
          <p:cNvSpPr txBox="1"/>
          <p:nvPr/>
        </p:nvSpPr>
        <p:spPr>
          <a:xfrm>
            <a:off x="8046720" y="2697480"/>
            <a:ext cx="3383280" cy="502920"/>
          </a:xfrm>
          <a:prstGeom prst="rect">
            <a:avLst/>
          </a:prstGeom>
          <a:noFill/>
          <a:ln/>
        </p:spPr>
        <p:txBody>
          <a:bodyPr wrap="square" lIns="0" tIns="0" rIns="0" bIns="0" rtlCol="0" anchor="t"/>
          <a:lstStyle/>
          <a:p>
            <a:pPr indent="0" marL="0">
              <a:buNone/>
            </a:pPr>
            <a:r>
              <a:rPr lang="en-US" sz="2100" b="1" dirty="0">
                <a:solidFill>
                  <a:srgbClr val="FFFFFF"/>
                </a:solidFill>
                <a:latin typeface="Cambria" pitchFamily="34" charset="0"/>
                <a:ea typeface="Cambria" pitchFamily="34" charset="-122"/>
                <a:cs typeface="Cambria" pitchFamily="34" charset="-120"/>
              </a:rPr>
              <a:t>Terbukti berjalan</a:t>
            </a:r>
            <a:endParaRPr lang="en-US" sz="2100" dirty="0"/>
          </a:p>
        </p:txBody>
      </p:sp>
      <p:sp>
        <p:nvSpPr>
          <p:cNvPr id="15" name="Text 9"/>
          <p:cNvSpPr txBox="1"/>
          <p:nvPr/>
        </p:nvSpPr>
        <p:spPr>
          <a:xfrm>
            <a:off x="8046720" y="3200400"/>
            <a:ext cx="3291840" cy="914400"/>
          </a:xfrm>
          <a:prstGeom prst="rect">
            <a:avLst/>
          </a:prstGeom>
          <a:noFill/>
          <a:ln/>
        </p:spPr>
        <p:txBody>
          <a:bodyPr wrap="square" lIns="0" tIns="0" rIns="0" bIns="0" rtlCol="0" anchor="t"/>
          <a:lstStyle/>
          <a:p>
            <a:pPr indent="0" marL="0">
              <a:buNone/>
            </a:pPr>
            <a:r>
              <a:rPr lang="en-US" sz="1500" dirty="0">
                <a:solidFill>
                  <a:srgbClr val="BCD7D9"/>
                </a:solidFill>
                <a:latin typeface="Calibri" pitchFamily="34" charset="0"/>
                <a:ea typeface="Calibri" pitchFamily="34" charset="-122"/>
                <a:cs typeface="Calibri" pitchFamily="34" charset="-120"/>
              </a:rPr>
              <a:t>Prototipe ujung ke ujung; 43 tes lulus; simulasi 100 lead.</a:t>
            </a:r>
            <a:endParaRPr lang="en-US" sz="1500" dirty="0"/>
          </a:p>
        </p:txBody>
      </p:sp>
      <p:sp>
        <p:nvSpPr>
          <p:cNvPr id="16" name="Shape 10"/>
          <p:cNvSpPr/>
          <p:nvPr/>
        </p:nvSpPr>
        <p:spPr>
          <a:xfrm>
            <a:off x="640080" y="4526280"/>
            <a:ext cx="10881360" cy="0"/>
          </a:xfrm>
          <a:prstGeom prst="line">
            <a:avLst/>
          </a:prstGeom>
          <a:noFill/>
          <a:ln w="12700">
            <a:solidFill>
              <a:srgbClr val="2F7D84"/>
            </a:solidFill>
            <a:prstDash val="solid"/>
          </a:ln>
        </p:spPr>
      </p:sp>
      <p:sp>
        <p:nvSpPr>
          <p:cNvPr id="17" name="Text 11"/>
          <p:cNvSpPr txBox="1"/>
          <p:nvPr/>
        </p:nvSpPr>
        <p:spPr>
          <a:xfrm>
            <a:off x="640080" y="4800600"/>
            <a:ext cx="6858000" cy="640080"/>
          </a:xfrm>
          <a:prstGeom prst="rect">
            <a:avLst/>
          </a:prstGeom>
          <a:noFill/>
          <a:ln/>
        </p:spPr>
        <p:txBody>
          <a:bodyPr wrap="square" lIns="0" tIns="0" rIns="0" bIns="0" rtlCol="0" anchor="t"/>
          <a:lstStyle/>
          <a:p>
            <a:pPr indent="0" marL="0">
              <a:buNone/>
            </a:pPr>
            <a:r>
              <a:rPr lang="en-US" sz="2800" b="1" dirty="0">
                <a:solidFill>
                  <a:srgbClr val="F2B544"/>
                </a:solidFill>
                <a:latin typeface="Cambria" pitchFamily="34" charset="0"/>
                <a:ea typeface="Cambria" pitchFamily="34" charset="-122"/>
                <a:cs typeface="Cambria" pitchFamily="34" charset="-120"/>
              </a:rPr>
              <a:t>Terima kasih — sesi tanya jawab</a:t>
            </a:r>
            <a:endParaRPr lang="en-US" sz="2800" dirty="0"/>
          </a:p>
        </p:txBody>
      </p:sp>
      <p:sp>
        <p:nvSpPr>
          <p:cNvPr id="18" name="Text 12"/>
          <p:cNvSpPr txBox="1"/>
          <p:nvPr/>
        </p:nvSpPr>
        <p:spPr>
          <a:xfrm>
            <a:off x="640080" y="5486400"/>
            <a:ext cx="6858000" cy="365760"/>
          </a:xfrm>
          <a:prstGeom prst="rect">
            <a:avLst/>
          </a:prstGeom>
          <a:noFill/>
          <a:ln/>
        </p:spPr>
        <p:txBody>
          <a:bodyPr wrap="square" lIns="0" tIns="0" rIns="0" bIns="0" rtlCol="0" anchor="t"/>
          <a:lstStyle/>
          <a:p>
            <a:pPr indent="0" marL="0">
              <a:buNone/>
            </a:pPr>
            <a:r>
              <a:rPr lang="en-US" sz="1400" dirty="0">
                <a:solidFill>
                  <a:srgbClr val="BCD7D9"/>
                </a:solidFill>
                <a:latin typeface="Calibri" pitchFamily="34" charset="0"/>
                <a:ea typeface="Calibri" pitchFamily="34" charset="-122"/>
                <a:cs typeface="Calibri" pitchFamily="34" charset="-120"/>
              </a:rPr>
              <a:t>Repositori: github.com/adityanrrhmn/agen-cerdas-enterprise (privat)</a:t>
            </a:r>
            <a:endParaRPr lang="en-US" sz="1400" dirty="0"/>
          </a:p>
        </p:txBody>
      </p:sp>
      <p:sp>
        <p:nvSpPr>
          <p:cNvPr id="19" name="Text 13"/>
          <p:cNvSpPr txBox="1"/>
          <p:nvPr/>
        </p:nvSpPr>
        <p:spPr>
          <a:xfrm>
            <a:off x="8549640" y="4754880"/>
            <a:ext cx="3017520" cy="1645920"/>
          </a:xfrm>
          <a:prstGeom prst="rect">
            <a:avLst/>
          </a:prstGeom>
          <a:noFill/>
          <a:ln/>
        </p:spPr>
        <p:txBody>
          <a:bodyPr wrap="square" lIns="0" tIns="0" rIns="0" bIns="0" rtlCol="0" anchor="t"/>
          <a:lstStyle/>
          <a:p>
            <a:pPr algn="r" indent="0" marL="0">
              <a:spcAft>
                <a:spcPts val="200"/>
              </a:spcAft>
              <a:buNone/>
            </a:pPr>
            <a:r>
              <a:rPr lang="en-US" sz="1300" dirty="0">
                <a:solidFill>
                  <a:srgbClr val="FFFFFF"/>
                </a:solidFill>
                <a:latin typeface="Calibri" pitchFamily="34" charset="0"/>
                <a:ea typeface="Calibri" pitchFamily="34" charset="-122"/>
                <a:cs typeface="Calibri" pitchFamily="34" charset="-120"/>
              </a:rPr>
              <a:t>Aditya · Leader &amp; Evaluator</a:t>
            </a:r>
            <a:endParaRPr lang="en-US" sz="1300" dirty="0"/>
          </a:p>
          <a:p>
            <a:pPr algn="r" indent="0" marL="0">
              <a:spcAft>
                <a:spcPts val="200"/>
              </a:spcAft>
              <a:buNone/>
            </a:pPr>
            <a:r>
              <a:rPr lang="en-US" sz="1300" dirty="0">
                <a:solidFill>
                  <a:srgbClr val="FFFFFF"/>
                </a:solidFill>
                <a:latin typeface="Calibri" pitchFamily="34" charset="0"/>
                <a:ea typeface="Calibri" pitchFamily="34" charset="-122"/>
                <a:cs typeface="Calibri" pitchFamily="34" charset="-120"/>
              </a:rPr>
              <a:t>Amar · Presenter</a:t>
            </a:r>
            <a:endParaRPr lang="en-US" sz="1300" dirty="0"/>
          </a:p>
          <a:p>
            <a:pPr algn="r" indent="0" marL="0">
              <a:spcAft>
                <a:spcPts val="200"/>
              </a:spcAft>
              <a:buNone/>
            </a:pPr>
            <a:r>
              <a:rPr lang="en-US" sz="1300" dirty="0">
                <a:solidFill>
                  <a:srgbClr val="FFFFFF"/>
                </a:solidFill>
                <a:latin typeface="Calibri" pitchFamily="34" charset="0"/>
                <a:ea typeface="Calibri" pitchFamily="34" charset="-122"/>
                <a:cs typeface="Calibri" pitchFamily="34" charset="-120"/>
              </a:rPr>
              <a:t>Syakirah · Programmer</a:t>
            </a:r>
            <a:endParaRPr lang="en-US" sz="1300" dirty="0"/>
          </a:p>
          <a:p>
            <a:pPr algn="r" indent="0" marL="0">
              <a:spcAft>
                <a:spcPts val="200"/>
              </a:spcAft>
              <a:buNone/>
            </a:pPr>
            <a:r>
              <a:rPr lang="en-US" sz="1300" dirty="0">
                <a:solidFill>
                  <a:srgbClr val="FFFFFF"/>
                </a:solidFill>
                <a:latin typeface="Calibri" pitchFamily="34" charset="0"/>
                <a:ea typeface="Calibri" pitchFamily="34" charset="-122"/>
                <a:cs typeface="Calibri" pitchFamily="34" charset="-120"/>
              </a:rPr>
              <a:t>Amelia · Designer</a:t>
            </a:r>
            <a:endParaRPr lang="en-US" sz="1300" dirty="0"/>
          </a:p>
          <a:p>
            <a:pPr algn="r" indent="0" marL="0">
              <a:spcAft>
                <a:spcPts val="200"/>
              </a:spcAft>
              <a:buNone/>
            </a:pPr>
            <a:r>
              <a:rPr lang="en-US" sz="1300" dirty="0">
                <a:solidFill>
                  <a:srgbClr val="FFFFFF"/>
                </a:solidFill>
                <a:latin typeface="Calibri" pitchFamily="34" charset="0"/>
                <a:ea typeface="Calibri" pitchFamily="34" charset="-122"/>
                <a:cs typeface="Calibri" pitchFamily="34" charset="-120"/>
              </a:rPr>
              <a:t>Jovi · Researcher</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Outreach Control: Sistem Multi-Agent Email Writer &amp; Enrichment</dc:title>
  <dc:subject>PptxGenJS Presentation</dc:subject>
  <dc:creator>Kelompok 1 — Agen Cerdas Enterprise</dc:creator>
  <cp:lastModifiedBy>Kelompok 1 — Agen Cerdas Enterprise</cp:lastModifiedBy>
  <cp:revision>1</cp:revision>
  <dcterms:created xsi:type="dcterms:W3CDTF">2026-09-22T13:28:48Z</dcterms:created>
  <dcterms:modified xsi:type="dcterms:W3CDTF">2026-09-22T13:28:48Z</dcterms:modified>
</cp:coreProperties>
</file>